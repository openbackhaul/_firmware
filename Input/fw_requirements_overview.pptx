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786" y="50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6F366-77B4-FB1E-D861-13D5FEE621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734F72-2AC0-9CF7-BF25-75E355BEE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7B2AA7-8313-F3E0-7EA9-1C6D580B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95E109-34F7-5F28-D70B-A9F9231D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556813-ABFB-8A24-A0C4-C071A87A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0371F8-3040-1356-1ABA-5B24DB5D9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A2555-D8B1-120E-BCE9-BCC4F046F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1B1034-0B35-CA31-A400-85252135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6F5948-AE14-C5A8-0F53-C2532B751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22D2AE-8C58-DB9E-867B-C7DC2938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669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D5B353-48F6-05AB-CCB8-E261FE01A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E85E46-2817-BD4A-8531-588D5D0DF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9C4917-2E42-A277-98A3-6A75BF88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5E9B37-8C48-94B1-2506-74E9D451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B1C85B-533F-725A-AADB-CADFAFEFE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63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A57197-F54E-B868-988D-6E893C19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0A0AA7-4B1C-0F3E-020B-757D49DB9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43C0C7-8D30-38F3-A763-9604D0A8C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849AC6-3FAB-EB23-C1E9-040461481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0EBEBC-704B-8085-23DA-F0ED264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FF9A63C-D47C-13C5-B45F-4AFF672B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8392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B9EF31-4AEF-2B69-4D53-FFA25089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8835E7D-FCC4-7757-C190-D34BB4962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8DB0611-4FF4-4732-FA5F-C97A175F8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86935A1-B1CA-3843-32CB-2A9876D665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4852BDF-670C-EB7D-7364-3517CB161C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79863C3-E788-BC14-142F-44AB2D506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534CB22-9C47-4B1E-8317-D43F3AF68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C64777-A07A-902D-78F7-B4EB90BB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6319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B39C53-0512-2636-E9A3-9E294100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48CAEB9-5120-29D4-2067-25339372E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32493C-24B9-F5A8-88A0-7D84FB2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D2279E-C714-799E-A8EC-1A65BA1E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2320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BA053E-E5CD-C7E3-8C15-F094B8C9F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36C8554-0CD5-5913-215B-14226E36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2C1EDF-F9EE-0E6E-811F-89D33AF1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192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DDBE7B-6B0B-F92B-BD54-254FB413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73A28B-223E-FEED-8137-B2FF7A731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6F990-2D68-1275-04E3-35C734A97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6D0AF6-BAAF-3CDE-1246-AD0CC6EF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E41D75-5188-0CCF-320E-302B9BB5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A52454-5DD9-A7B0-66C5-860CCB63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43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50D796-FFF8-AAD9-3CA2-51B2AD1C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9F9EC87-0F75-9426-FB9E-48FF490AC1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84D88E-C6BC-8F9B-8B32-286EA266E7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28A44C-874F-68DD-D9A1-B6ED46F80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0BFF24-7191-5148-1B9A-F24395848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299132B-90D0-EFAC-A401-A30EAD81C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3492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8AAB7-7394-4CA5-0A84-3B65BAFF0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277E81B-582E-8A83-FAF3-8315585E4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9BC5DE-3E62-D387-F691-7B7CD9056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05F2AF-492E-70BF-6DBC-60F3B646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2C89DC-FD4D-D5D0-523D-E0511B2B2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400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C6F328A-5DDD-5A21-B263-7529C9F2F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1376EA-1B63-66C3-5E69-ABE1ED48F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9A0F44-7C1B-5732-5841-E1E24E17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200B7B-FEEC-5AAA-8977-79E8F77E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A44CB1-96FB-AD06-5A3F-22680B4A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666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25B4542-9853-E2A2-C1D1-C231EEF5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AA700F5-E534-82D3-A4C7-C60B77AA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97D1AC-2492-AE95-C1BF-2E4F0552B1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EEAC5B-F25E-4F8A-9924-6726B5164A8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78AB5E-A3F5-1186-59D9-1E039645D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583E26-2C8B-A593-7B0E-D7D8B686F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3FC6E-419A-4B7B-8E8F-71CAC9CAD0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0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hteck 73">
            <a:extLst>
              <a:ext uri="{FF2B5EF4-FFF2-40B4-BE49-F238E27FC236}">
                <a16:creationId xmlns:a16="http://schemas.microsoft.com/office/drawing/2014/main" id="{D2AB3A14-EA55-04BF-41DC-F156E7BD82FB}"/>
              </a:ext>
            </a:extLst>
          </p:cNvPr>
          <p:cNvSpPr/>
          <p:nvPr/>
        </p:nvSpPr>
        <p:spPr>
          <a:xfrm>
            <a:off x="3153165" y="5303977"/>
            <a:ext cx="3923138" cy="122681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DE4E4E5-5583-32D6-7FD6-DFD4BB0CC8C0}"/>
              </a:ext>
            </a:extLst>
          </p:cNvPr>
          <p:cNvSpPr/>
          <p:nvPr/>
        </p:nvSpPr>
        <p:spPr>
          <a:xfrm>
            <a:off x="246955" y="180210"/>
            <a:ext cx="1114633" cy="200234"/>
          </a:xfrm>
          <a:prstGeom prst="roundRect">
            <a:avLst/>
          </a:prstGeom>
          <a:solidFill>
            <a:srgbClr val="473464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13: mass rollout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96CB97A-F887-9CD0-10FB-00186C177656}"/>
              </a:ext>
            </a:extLst>
          </p:cNvPr>
          <p:cNvSpPr/>
          <p:nvPr/>
        </p:nvSpPr>
        <p:spPr>
          <a:xfrm>
            <a:off x="269140" y="3029207"/>
            <a:ext cx="1114633" cy="347072"/>
          </a:xfrm>
          <a:prstGeom prst="roundRect">
            <a:avLst/>
          </a:prstGeom>
          <a:solidFill>
            <a:srgbClr val="473464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14: FW check + upgrade (1 IDU)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BE634C6-5AC2-0B4A-6C44-0589D1A6CD3E}"/>
              </a:ext>
            </a:extLst>
          </p:cNvPr>
          <p:cNvSpPr/>
          <p:nvPr/>
        </p:nvSpPr>
        <p:spPr>
          <a:xfrm>
            <a:off x="247064" y="3813073"/>
            <a:ext cx="1114633" cy="347072"/>
          </a:xfrm>
          <a:prstGeom prst="roundRect">
            <a:avLst/>
          </a:prstGeom>
          <a:solidFill>
            <a:srgbClr val="473464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15: on-demand FW upgrade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20E3640D-81F4-A92C-BA2E-78BFC1741550}"/>
              </a:ext>
            </a:extLst>
          </p:cNvPr>
          <p:cNvSpPr/>
          <p:nvPr/>
        </p:nvSpPr>
        <p:spPr>
          <a:xfrm>
            <a:off x="246955" y="2447417"/>
            <a:ext cx="1114633" cy="347072"/>
          </a:xfrm>
          <a:prstGeom prst="roundRect">
            <a:avLst/>
          </a:prstGeom>
          <a:solidFill>
            <a:srgbClr val="473464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16: QM FW reporting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5879A34F-FB9C-C989-6D3F-C544D75D2F4F}"/>
              </a:ext>
            </a:extLst>
          </p:cNvPr>
          <p:cNvSpPr/>
          <p:nvPr/>
        </p:nvSpPr>
        <p:spPr>
          <a:xfrm>
            <a:off x="309186" y="5095703"/>
            <a:ext cx="1114633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31: all vendors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B7EDE8A5-0755-38AD-032C-BF852EBC5889}"/>
              </a:ext>
            </a:extLst>
          </p:cNvPr>
          <p:cNvSpPr/>
          <p:nvPr/>
        </p:nvSpPr>
        <p:spPr>
          <a:xfrm>
            <a:off x="2060717" y="2012311"/>
            <a:ext cx="1114633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>
                <a:solidFill>
                  <a:schemeClr val="tx1">
                    <a:lumMod val="75000"/>
                    <a:lumOff val="25000"/>
                  </a:schemeClr>
                </a:solidFill>
              </a:rPr>
              <a:t>33: GUI UX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B4049A8-23F8-FC89-A12B-588B78244C06}"/>
              </a:ext>
            </a:extLst>
          </p:cNvPr>
          <p:cNvSpPr/>
          <p:nvPr/>
        </p:nvSpPr>
        <p:spPr>
          <a:xfrm>
            <a:off x="2060717" y="1630086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17: GUI module; projects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5020835-B154-821C-A49D-8DC1980CCD94}"/>
              </a:ext>
            </a:extLst>
          </p:cNvPr>
          <p:cNvSpPr/>
          <p:nvPr/>
        </p:nvSpPr>
        <p:spPr>
          <a:xfrm>
            <a:off x="2060717" y="107675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18: interface to MDOI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7C9F443C-4401-3D64-6FD5-25F9182679A1}"/>
              </a:ext>
            </a:extLst>
          </p:cNvPr>
          <p:cNvSpPr/>
          <p:nvPr/>
        </p:nvSpPr>
        <p:spPr>
          <a:xfrm>
            <a:off x="3946210" y="1405831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19: maintain IDU blacklist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DF4600F-71FB-7BC1-50C0-5B0B1434C673}"/>
              </a:ext>
            </a:extLst>
          </p:cNvPr>
          <p:cNvSpPr/>
          <p:nvPr/>
        </p:nvSpPr>
        <p:spPr>
          <a:xfrm>
            <a:off x="5999518" y="1407364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20: exclude blacklist IDUs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D0B1DB59-B53E-5E7B-B9DF-3E8ADAA4C626}"/>
              </a:ext>
            </a:extLst>
          </p:cNvPr>
          <p:cNvSpPr/>
          <p:nvPr/>
        </p:nvSpPr>
        <p:spPr>
          <a:xfrm>
            <a:off x="3946210" y="1665690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21: mapping IDU – device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63EE976-E9F3-E5D1-A972-B2DA99E56156}"/>
              </a:ext>
            </a:extLst>
          </p:cNvPr>
          <p:cNvSpPr/>
          <p:nvPr/>
        </p:nvSpPr>
        <p:spPr>
          <a:xfrm>
            <a:off x="3862838" y="2173399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22: project scheduling 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3959F4FD-667C-EAEE-842A-342DEB074E71}"/>
              </a:ext>
            </a:extLst>
          </p:cNvPr>
          <p:cNvSpPr/>
          <p:nvPr/>
        </p:nvSpPr>
        <p:spPr>
          <a:xfrm>
            <a:off x="3862838" y="2385926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24: manual project exec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74D458ED-397B-191D-711B-44774DF56A48}"/>
              </a:ext>
            </a:extLst>
          </p:cNvPr>
          <p:cNvSpPr/>
          <p:nvPr/>
        </p:nvSpPr>
        <p:spPr>
          <a:xfrm>
            <a:off x="7704540" y="2808956"/>
            <a:ext cx="1609656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25: list upgrade results 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59E0AB41-FEAF-0AE9-64E8-CEE82DB1F67B}"/>
              </a:ext>
            </a:extLst>
          </p:cNvPr>
          <p:cNvSpPr/>
          <p:nvPr/>
        </p:nvSpPr>
        <p:spPr>
          <a:xfrm>
            <a:off x="9757295" y="2708839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26: meaningful SDN responses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2221D464-07E7-8F50-CB99-8381059FF2B5}"/>
              </a:ext>
            </a:extLst>
          </p:cNvPr>
          <p:cNvSpPr/>
          <p:nvPr/>
        </p:nvSpPr>
        <p:spPr>
          <a:xfrm>
            <a:off x="9757295" y="290907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27: GUI interprets responses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FA7679A8-5AC1-FF74-0E11-0F83EF5FBCCF}"/>
              </a:ext>
            </a:extLst>
          </p:cNvPr>
          <p:cNvSpPr/>
          <p:nvPr/>
        </p:nvSpPr>
        <p:spPr>
          <a:xfrm>
            <a:off x="5698313" y="2173399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23: interface TSM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ABF3B553-FC0E-72C7-AAE5-F8E668F0872A}"/>
              </a:ext>
            </a:extLst>
          </p:cNvPr>
          <p:cNvSpPr/>
          <p:nvPr/>
        </p:nvSpPr>
        <p:spPr>
          <a:xfrm>
            <a:off x="3601189" y="1278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28: access GLORIA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C31950F9-05CD-DB99-ED64-4FB283AC9704}"/>
              </a:ext>
            </a:extLst>
          </p:cNvPr>
          <p:cNvSpPr/>
          <p:nvPr/>
        </p:nvSpPr>
        <p:spPr>
          <a:xfrm>
            <a:off x="3601189" y="193725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29: download FW to NMS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9C583B78-E7B2-E9A1-EFBA-E0324364E670}"/>
              </a:ext>
            </a:extLst>
          </p:cNvPr>
          <p:cNvSpPr/>
          <p:nvPr/>
        </p:nvSpPr>
        <p:spPr>
          <a:xfrm>
            <a:off x="3601189" y="402311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30: FW housekeeping 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B6320FFD-66C8-DE88-976D-258D730D335F}"/>
              </a:ext>
            </a:extLst>
          </p:cNvPr>
          <p:cNvSpPr/>
          <p:nvPr/>
        </p:nvSpPr>
        <p:spPr>
          <a:xfrm>
            <a:off x="7704540" y="3095968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32: change log 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5E1EEA48-3D5F-0872-14C4-BC8F7D10FD64}"/>
              </a:ext>
            </a:extLst>
          </p:cNvPr>
          <p:cNvSpPr/>
          <p:nvPr/>
        </p:nvSpPr>
        <p:spPr>
          <a:xfrm>
            <a:off x="6208355" y="3988661"/>
            <a:ext cx="1609656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34: get current installed FW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976A368F-92E2-4C6F-2757-824ECF828C97}"/>
              </a:ext>
            </a:extLst>
          </p:cNvPr>
          <p:cNvSpPr/>
          <p:nvPr/>
        </p:nvSpPr>
        <p:spPr>
          <a:xfrm>
            <a:off x="8317418" y="3871826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>
                <a:solidFill>
                  <a:schemeClr val="tx1"/>
                </a:solidFill>
              </a:rPr>
              <a:t>35: GUI dialogue: get installed FW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35CB898F-D49C-A67E-2A50-6EB7F5FE8DBC}"/>
              </a:ext>
            </a:extLst>
          </p:cNvPr>
          <p:cNvSpPr/>
          <p:nvPr/>
        </p:nvSpPr>
        <p:spPr>
          <a:xfrm>
            <a:off x="8317418" y="4095964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36: SDN: get FW from device</a:t>
            </a:r>
            <a:r>
              <a:rPr lang="de-DE" sz="10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5DBBA920-D9CC-E0A9-F194-25E950661687}"/>
              </a:ext>
            </a:extLst>
          </p:cNvPr>
          <p:cNvSpPr/>
          <p:nvPr/>
        </p:nvSpPr>
        <p:spPr>
          <a:xfrm>
            <a:off x="4009123" y="4335152"/>
            <a:ext cx="1756774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37: FW upgrade (auto/manual)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3CD96C87-90ED-BD07-0CB5-5DCD69F1C5FD}"/>
              </a:ext>
            </a:extLst>
          </p:cNvPr>
          <p:cNvSpPr/>
          <p:nvPr/>
        </p:nvSpPr>
        <p:spPr>
          <a:xfrm>
            <a:off x="3978243" y="3347287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38: periodic comparisons 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C3B03A2-A514-5C9D-4B98-A4AF0375D8F3}"/>
              </a:ext>
            </a:extLst>
          </p:cNvPr>
          <p:cNvSpPr/>
          <p:nvPr/>
        </p:nvSpPr>
        <p:spPr>
          <a:xfrm>
            <a:off x="3601189" y="617012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39: upload FW to devices 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30E0C5FA-61E0-936B-37AF-ECE6819C7BBA}"/>
              </a:ext>
            </a:extLst>
          </p:cNvPr>
          <p:cNvSpPr/>
          <p:nvPr/>
        </p:nvSpPr>
        <p:spPr>
          <a:xfrm>
            <a:off x="3415417" y="5560273"/>
            <a:ext cx="1609656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40: rollback/forced installation 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82B827DF-6162-E4DA-2497-5D1EE08E3760}"/>
              </a:ext>
            </a:extLst>
          </p:cNvPr>
          <p:cNvSpPr/>
          <p:nvPr/>
        </p:nvSpPr>
        <p:spPr>
          <a:xfrm>
            <a:off x="5698313" y="282897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41: auto-handing problem IDUs 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DEA79CA6-45B2-A187-4E61-1E472CF0D146}"/>
              </a:ext>
            </a:extLst>
          </p:cNvPr>
          <p:cNvSpPr/>
          <p:nvPr/>
        </p:nvSpPr>
        <p:spPr>
          <a:xfrm>
            <a:off x="289162" y="5370827"/>
            <a:ext cx="1154679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42: basekey usage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3701E1A-D4AB-8FAF-2CAE-B347D504CE07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5555866" y="1505948"/>
            <a:ext cx="443652" cy="1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FFA9058-B616-167D-D9CC-24E1AD045DCB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5472494" y="2273516"/>
            <a:ext cx="225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B02F1B5-7733-3C67-E740-526C7D8DC119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9314196" y="2808956"/>
            <a:ext cx="443099" cy="100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93B1C11D-A388-02C1-88D1-87E6FA785757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9314196" y="2909073"/>
            <a:ext cx="443099" cy="100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17AC7190-CF6D-8078-E979-C2A1916E3745}"/>
              </a:ext>
            </a:extLst>
          </p:cNvPr>
          <p:cNvCxnSpPr>
            <a:stCxn id="32" idx="3"/>
            <a:endCxn id="17" idx="1"/>
          </p:cNvCxnSpPr>
          <p:nvPr/>
        </p:nvCxnSpPr>
        <p:spPr>
          <a:xfrm flipV="1">
            <a:off x="7307969" y="2909073"/>
            <a:ext cx="396571" cy="200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0CFF818F-5D14-4596-3823-9518A4C3165A}"/>
              </a:ext>
            </a:extLst>
          </p:cNvPr>
          <p:cNvCxnSpPr>
            <a:stCxn id="32" idx="3"/>
            <a:endCxn id="24" idx="1"/>
          </p:cNvCxnSpPr>
          <p:nvPr/>
        </p:nvCxnSpPr>
        <p:spPr>
          <a:xfrm>
            <a:off x="7307969" y="2929090"/>
            <a:ext cx="396571" cy="2669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2262136C-58A0-F55C-3636-01551549193E}"/>
              </a:ext>
            </a:extLst>
          </p:cNvPr>
          <p:cNvSpPr/>
          <p:nvPr/>
        </p:nvSpPr>
        <p:spPr>
          <a:xfrm>
            <a:off x="6208355" y="3738369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44: determine target FW version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A382B854-A9AA-85DD-9791-D0E24EF5FF6F}"/>
              </a:ext>
            </a:extLst>
          </p:cNvPr>
          <p:cNvSpPr/>
          <p:nvPr/>
        </p:nvSpPr>
        <p:spPr>
          <a:xfrm>
            <a:off x="2038532" y="172587"/>
            <a:ext cx="1191113" cy="5777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45: FW distribution orchestration</a:t>
            </a:r>
          </a:p>
          <a:p>
            <a:r>
              <a:rPr lang="de-DE" sz="900">
                <a:solidFill>
                  <a:schemeClr val="tx1"/>
                </a:solidFill>
              </a:rPr>
              <a:t>(ClusterIssue - no requirement)</a:t>
            </a: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A394336A-0202-59C7-F6C8-E51828F41A69}"/>
              </a:ext>
            </a:extLst>
          </p:cNvPr>
          <p:cNvCxnSpPr>
            <a:cxnSpLocks/>
            <a:stCxn id="41" idx="3"/>
            <a:endCxn id="21" idx="1"/>
          </p:cNvCxnSpPr>
          <p:nvPr/>
        </p:nvCxnSpPr>
        <p:spPr>
          <a:xfrm flipV="1">
            <a:off x="3229645" y="101395"/>
            <a:ext cx="371544" cy="3600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CD68F40E-1008-D4D5-47B6-D762E3F0C8EE}"/>
              </a:ext>
            </a:extLst>
          </p:cNvPr>
          <p:cNvCxnSpPr>
            <a:cxnSpLocks/>
            <a:stCxn id="41" idx="3"/>
            <a:endCxn id="22" idx="1"/>
          </p:cNvCxnSpPr>
          <p:nvPr/>
        </p:nvCxnSpPr>
        <p:spPr>
          <a:xfrm flipV="1">
            <a:off x="3229645" y="293842"/>
            <a:ext cx="371544" cy="167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AB56F1B3-5E5E-0D36-B8EB-D72F80B30CB9}"/>
              </a:ext>
            </a:extLst>
          </p:cNvPr>
          <p:cNvCxnSpPr>
            <a:cxnSpLocks/>
            <a:stCxn id="41" idx="3"/>
            <a:endCxn id="23" idx="1"/>
          </p:cNvCxnSpPr>
          <p:nvPr/>
        </p:nvCxnSpPr>
        <p:spPr>
          <a:xfrm>
            <a:off x="3229645" y="461446"/>
            <a:ext cx="371544" cy="40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D077FCBF-D3A1-D673-3D49-E6C53A2EFE95}"/>
              </a:ext>
            </a:extLst>
          </p:cNvPr>
          <p:cNvCxnSpPr>
            <a:cxnSpLocks/>
            <a:stCxn id="41" idx="3"/>
            <a:endCxn id="30" idx="1"/>
          </p:cNvCxnSpPr>
          <p:nvPr/>
        </p:nvCxnSpPr>
        <p:spPr>
          <a:xfrm>
            <a:off x="3229645" y="461446"/>
            <a:ext cx="371544" cy="2556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2DD1912E-5850-190A-CE79-5ED2EF8AA933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818011" y="4088778"/>
            <a:ext cx="499407" cy="10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997AD594-8207-D121-E4B2-1DBA43BBF902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7818011" y="3971943"/>
            <a:ext cx="499407" cy="1168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2824CF98-DB29-0640-178A-7F6C16AF6113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>
            <a:off x="5472494" y="2486043"/>
            <a:ext cx="225819" cy="443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5D381DB3-D44C-B8C7-9954-1BAAE74F19DB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3670373" y="1730203"/>
            <a:ext cx="192465" cy="75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8F41B9E-A40D-B110-0D85-30A4B6715CE0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3670373" y="1730203"/>
            <a:ext cx="192465" cy="543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94BE9B5-AB85-6B49-BD45-FA82722FBA9E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361588" y="280327"/>
            <a:ext cx="699129" cy="14498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FC3F7063-588F-1BB9-7393-4FC682CCFC5E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1361588" y="280327"/>
            <a:ext cx="699129" cy="8965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5129E0DF-E5AA-EB48-9360-52F298BB3363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1361588" y="280327"/>
            <a:ext cx="676944" cy="1811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CB89D286-A7C8-06A7-EFE2-53D0076BA7C0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670373" y="1505948"/>
            <a:ext cx="275837" cy="220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C68AEC38-5B5F-3F0E-3B5A-504B772B60E6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3670373" y="1730203"/>
            <a:ext cx="275837" cy="35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4BF7F2F4-E69D-90C5-A163-C07EC1A273F6}"/>
              </a:ext>
            </a:extLst>
          </p:cNvPr>
          <p:cNvSpPr/>
          <p:nvPr/>
        </p:nvSpPr>
        <p:spPr>
          <a:xfrm>
            <a:off x="5989120" y="165044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43: rollout per device not IDU</a:t>
            </a: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F73F2B9D-9169-49E1-5C5E-E5486A33A514}"/>
              </a:ext>
            </a:extLst>
          </p:cNvPr>
          <p:cNvCxnSpPr>
            <a:cxnSpLocks/>
            <a:stCxn id="12" idx="3"/>
            <a:endCxn id="56" idx="1"/>
          </p:cNvCxnSpPr>
          <p:nvPr/>
        </p:nvCxnSpPr>
        <p:spPr>
          <a:xfrm>
            <a:off x="5555866" y="1505948"/>
            <a:ext cx="433254" cy="244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9FFEF360-FEAB-E787-E90D-495ED932840A}"/>
              </a:ext>
            </a:extLst>
          </p:cNvPr>
          <p:cNvCxnSpPr>
            <a:stCxn id="6" idx="3"/>
            <a:endCxn id="28" idx="1"/>
          </p:cNvCxnSpPr>
          <p:nvPr/>
        </p:nvCxnSpPr>
        <p:spPr>
          <a:xfrm>
            <a:off x="1361697" y="3986609"/>
            <a:ext cx="2647426" cy="4486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A09ACA27-6B79-792B-4467-31F85B9B6AA8}"/>
              </a:ext>
            </a:extLst>
          </p:cNvPr>
          <p:cNvSpPr/>
          <p:nvPr/>
        </p:nvSpPr>
        <p:spPr>
          <a:xfrm>
            <a:off x="3987229" y="3602801"/>
            <a:ext cx="1756773" cy="214037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46: on demand comparison installed/target FW</a:t>
            </a:r>
          </a:p>
        </p:txBody>
      </p: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86CC2B6D-46BE-11EF-E8E0-63220CFDFD64}"/>
              </a:ext>
            </a:extLst>
          </p:cNvPr>
          <p:cNvCxnSpPr>
            <a:cxnSpLocks/>
            <a:stCxn id="59" idx="3"/>
            <a:endCxn id="40" idx="1"/>
          </p:cNvCxnSpPr>
          <p:nvPr/>
        </p:nvCxnSpPr>
        <p:spPr>
          <a:xfrm>
            <a:off x="5744002" y="3709820"/>
            <a:ext cx="464353" cy="128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54994B91-DD5A-E43A-602B-0EDF68E1DF28}"/>
              </a:ext>
            </a:extLst>
          </p:cNvPr>
          <p:cNvCxnSpPr>
            <a:cxnSpLocks/>
            <a:stCxn id="59" idx="3"/>
            <a:endCxn id="25" idx="1"/>
          </p:cNvCxnSpPr>
          <p:nvPr/>
        </p:nvCxnSpPr>
        <p:spPr>
          <a:xfrm>
            <a:off x="5744002" y="3709820"/>
            <a:ext cx="464353" cy="3789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DAFE84DE-FC3C-2A7A-E506-D3E6A02E029B}"/>
              </a:ext>
            </a:extLst>
          </p:cNvPr>
          <p:cNvCxnSpPr>
            <a:cxnSpLocks/>
            <a:stCxn id="7" idx="3"/>
            <a:endCxn id="59" idx="1"/>
          </p:cNvCxnSpPr>
          <p:nvPr/>
        </p:nvCxnSpPr>
        <p:spPr>
          <a:xfrm>
            <a:off x="1361588" y="2620953"/>
            <a:ext cx="2625641" cy="1088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9755B5A6-4672-A97A-CD36-9BC72276A36B}"/>
              </a:ext>
            </a:extLst>
          </p:cNvPr>
          <p:cNvCxnSpPr>
            <a:cxnSpLocks/>
            <a:stCxn id="29" idx="3"/>
            <a:endCxn id="25" idx="1"/>
          </p:cNvCxnSpPr>
          <p:nvPr/>
        </p:nvCxnSpPr>
        <p:spPr>
          <a:xfrm>
            <a:off x="5587899" y="3447404"/>
            <a:ext cx="620456" cy="641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6CE2C428-847F-94F3-A419-9F09364C15CD}"/>
              </a:ext>
            </a:extLst>
          </p:cNvPr>
          <p:cNvCxnSpPr>
            <a:cxnSpLocks/>
            <a:stCxn id="29" idx="3"/>
            <a:endCxn id="40" idx="1"/>
          </p:cNvCxnSpPr>
          <p:nvPr/>
        </p:nvCxnSpPr>
        <p:spPr>
          <a:xfrm>
            <a:off x="5587899" y="3447404"/>
            <a:ext cx="620456" cy="3910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4D607055-2F32-5E44-6B28-1CF4BD38058D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>
            <a:off x="1361588" y="2620953"/>
            <a:ext cx="2616655" cy="826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40471F54-FDE3-1DBD-798D-EC74C74B6773}"/>
              </a:ext>
            </a:extLst>
          </p:cNvPr>
          <p:cNvCxnSpPr>
            <a:cxnSpLocks/>
            <a:stCxn id="5" idx="3"/>
            <a:endCxn id="59" idx="1"/>
          </p:cNvCxnSpPr>
          <p:nvPr/>
        </p:nvCxnSpPr>
        <p:spPr>
          <a:xfrm>
            <a:off x="1383773" y="3202743"/>
            <a:ext cx="2603456" cy="507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FC088DED-0751-0304-1F5B-CBDFF8672CFD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1383773" y="3202743"/>
            <a:ext cx="2625350" cy="12325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DB122C21-35F0-20B3-DBC2-085309C26319}"/>
              </a:ext>
            </a:extLst>
          </p:cNvPr>
          <p:cNvSpPr txBox="1"/>
          <p:nvPr/>
        </p:nvSpPr>
        <p:spPr>
          <a:xfrm>
            <a:off x="3337226" y="5303977"/>
            <a:ext cx="16289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Waiting for confirmation by Peter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1DEDF81F-3E4B-FD83-0C98-FF206210F384}"/>
              </a:ext>
            </a:extLst>
          </p:cNvPr>
          <p:cNvSpPr/>
          <p:nvPr/>
        </p:nvSpPr>
        <p:spPr>
          <a:xfrm>
            <a:off x="3415417" y="5820132"/>
            <a:ext cx="1609656" cy="2002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X1: FW checksum validation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58AC3A87-1FD2-A77C-2CAD-8E569840581A}"/>
              </a:ext>
            </a:extLst>
          </p:cNvPr>
          <p:cNvSpPr/>
          <p:nvPr/>
        </p:nvSpPr>
        <p:spPr>
          <a:xfrm>
            <a:off x="3415417" y="6113372"/>
            <a:ext cx="1609656" cy="2807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X2: handling service affecting activation</a:t>
            </a:r>
          </a:p>
        </p:txBody>
      </p:sp>
      <p:sp>
        <p:nvSpPr>
          <p:cNvPr id="69" name="Rechteck: abgerundete Ecken 68">
            <a:extLst>
              <a:ext uri="{FF2B5EF4-FFF2-40B4-BE49-F238E27FC236}">
                <a16:creationId xmlns:a16="http://schemas.microsoft.com/office/drawing/2014/main" id="{8BE6DFEA-CA7D-D2C4-E89E-EEE919ABF363}"/>
              </a:ext>
            </a:extLst>
          </p:cNvPr>
          <p:cNvSpPr/>
          <p:nvPr/>
        </p:nvSpPr>
        <p:spPr>
          <a:xfrm>
            <a:off x="5149165" y="5818599"/>
            <a:ext cx="1609656" cy="2002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X3: topology awareness</a:t>
            </a:r>
          </a:p>
        </p:txBody>
      </p:sp>
      <p:sp>
        <p:nvSpPr>
          <p:cNvPr id="70" name="Rechteck: abgerundete Ecken 69">
            <a:extLst>
              <a:ext uri="{FF2B5EF4-FFF2-40B4-BE49-F238E27FC236}">
                <a16:creationId xmlns:a16="http://schemas.microsoft.com/office/drawing/2014/main" id="{113DFB42-5400-B277-DAEA-C5672412230F}"/>
              </a:ext>
            </a:extLst>
          </p:cNvPr>
          <p:cNvSpPr/>
          <p:nvPr/>
        </p:nvSpPr>
        <p:spPr>
          <a:xfrm>
            <a:off x="5149165" y="6113372"/>
            <a:ext cx="1609656" cy="2002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X4: required reboot handling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B6104CB9-C1F9-0873-BD8F-EF0E48F4FBC3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flipH="1">
            <a:off x="2618034" y="1830320"/>
            <a:ext cx="247511" cy="181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5E19401A-586A-62DB-9D35-65D107FC5CDD}"/>
              </a:ext>
            </a:extLst>
          </p:cNvPr>
          <p:cNvSpPr/>
          <p:nvPr/>
        </p:nvSpPr>
        <p:spPr>
          <a:xfrm>
            <a:off x="3926560" y="106720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48: Exec in MDOI / not MDOI</a:t>
            </a:r>
          </a:p>
        </p:txBody>
      </p: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9D07CD47-C510-8F57-C80A-13508528F2E8}"/>
              </a:ext>
            </a:extLst>
          </p:cNvPr>
          <p:cNvCxnSpPr>
            <a:cxnSpLocks/>
            <a:stCxn id="11" idx="3"/>
            <a:endCxn id="83" idx="1"/>
          </p:cNvCxnSpPr>
          <p:nvPr/>
        </p:nvCxnSpPr>
        <p:spPr>
          <a:xfrm flipV="1">
            <a:off x="3670373" y="1167320"/>
            <a:ext cx="256187" cy="95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Ellipse 100">
            <a:extLst>
              <a:ext uri="{FF2B5EF4-FFF2-40B4-BE49-F238E27FC236}">
                <a16:creationId xmlns:a16="http://schemas.microsoft.com/office/drawing/2014/main" id="{71D74BE1-D22F-2929-52EB-D954FBA2D02B}"/>
              </a:ext>
            </a:extLst>
          </p:cNvPr>
          <p:cNvSpPr/>
          <p:nvPr/>
        </p:nvSpPr>
        <p:spPr>
          <a:xfrm>
            <a:off x="10272584" y="172587"/>
            <a:ext cx="140043" cy="121255"/>
          </a:xfrm>
          <a:prstGeom prst="ellipse">
            <a:avLst/>
          </a:prstGeom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E860F23-DAB3-CF1A-86DA-2F949F3726B1}"/>
              </a:ext>
            </a:extLst>
          </p:cNvPr>
          <p:cNvSpPr txBox="1"/>
          <p:nvPr/>
        </p:nvSpPr>
        <p:spPr>
          <a:xfrm>
            <a:off x="10406257" y="101395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Quality req</a:t>
            </a:r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0860815C-89C7-7ACA-AE29-67CBCB85A595}"/>
              </a:ext>
            </a:extLst>
          </p:cNvPr>
          <p:cNvSpPr/>
          <p:nvPr/>
        </p:nvSpPr>
        <p:spPr>
          <a:xfrm>
            <a:off x="3856538" y="1097873"/>
            <a:ext cx="140043" cy="121255"/>
          </a:xfrm>
          <a:prstGeom prst="ellipse">
            <a:avLst/>
          </a:prstGeom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08CAB7A5-59DE-2285-F977-D9FB31ADD7B2}"/>
              </a:ext>
            </a:extLst>
          </p:cNvPr>
          <p:cNvSpPr/>
          <p:nvPr/>
        </p:nvSpPr>
        <p:spPr>
          <a:xfrm>
            <a:off x="2038532" y="2042564"/>
            <a:ext cx="140043" cy="121255"/>
          </a:xfrm>
          <a:prstGeom prst="ellipse">
            <a:avLst/>
          </a:prstGeom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5" name="Ellipse 104">
            <a:extLst>
              <a:ext uri="{FF2B5EF4-FFF2-40B4-BE49-F238E27FC236}">
                <a16:creationId xmlns:a16="http://schemas.microsoft.com/office/drawing/2014/main" id="{3E3EE0A4-442C-8655-07A4-A01A7AD3DDC5}"/>
              </a:ext>
            </a:extLst>
          </p:cNvPr>
          <p:cNvSpPr/>
          <p:nvPr/>
        </p:nvSpPr>
        <p:spPr>
          <a:xfrm>
            <a:off x="9649453" y="2757925"/>
            <a:ext cx="140043" cy="121255"/>
          </a:xfrm>
          <a:prstGeom prst="ellipse">
            <a:avLst/>
          </a:prstGeom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AD6ADDFA-2F20-32FC-6CD7-E41A12F149AC}"/>
              </a:ext>
            </a:extLst>
          </p:cNvPr>
          <p:cNvSpPr/>
          <p:nvPr/>
        </p:nvSpPr>
        <p:spPr>
          <a:xfrm>
            <a:off x="10268644" y="381173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207EF78C-D9C5-23D1-4650-399918703609}"/>
              </a:ext>
            </a:extLst>
          </p:cNvPr>
          <p:cNvSpPr txBox="1"/>
          <p:nvPr/>
        </p:nvSpPr>
        <p:spPr>
          <a:xfrm>
            <a:off x="10406257" y="323582"/>
            <a:ext cx="10438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Business Rule</a:t>
            </a:r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41574163-2667-EB50-6F98-A385DD485597}"/>
              </a:ext>
            </a:extLst>
          </p:cNvPr>
          <p:cNvSpPr/>
          <p:nvPr/>
        </p:nvSpPr>
        <p:spPr>
          <a:xfrm>
            <a:off x="5919098" y="1665942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C368C939-B39F-E357-702F-5C267F3B545C}"/>
              </a:ext>
            </a:extLst>
          </p:cNvPr>
          <p:cNvSpPr/>
          <p:nvPr/>
        </p:nvSpPr>
        <p:spPr>
          <a:xfrm>
            <a:off x="219140" y="5398166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80B932B8-DB4E-31BD-5F57-2CE36402D241}"/>
              </a:ext>
            </a:extLst>
          </p:cNvPr>
          <p:cNvSpPr/>
          <p:nvPr/>
        </p:nvSpPr>
        <p:spPr>
          <a:xfrm>
            <a:off x="5906156" y="1432158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7E207C0A-61CC-8304-AE86-55F668B0A552}"/>
              </a:ext>
            </a:extLst>
          </p:cNvPr>
          <p:cNvSpPr/>
          <p:nvPr/>
        </p:nvSpPr>
        <p:spPr>
          <a:xfrm>
            <a:off x="10278169" y="620616"/>
            <a:ext cx="140043" cy="121255"/>
          </a:xfrm>
          <a:prstGeom prst="ellipse">
            <a:avLst/>
          </a:prstGeom>
          <a:solidFill>
            <a:srgbClr val="0070C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785A1576-5F25-3986-2000-6E33CB642091}"/>
              </a:ext>
            </a:extLst>
          </p:cNvPr>
          <p:cNvSpPr txBox="1"/>
          <p:nvPr/>
        </p:nvSpPr>
        <p:spPr>
          <a:xfrm>
            <a:off x="10415782" y="550809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constraint</a:t>
            </a:r>
          </a:p>
        </p:txBody>
      </p:sp>
      <p:sp>
        <p:nvSpPr>
          <p:cNvPr id="115" name="Ellipse 114">
            <a:extLst>
              <a:ext uri="{FF2B5EF4-FFF2-40B4-BE49-F238E27FC236}">
                <a16:creationId xmlns:a16="http://schemas.microsoft.com/office/drawing/2014/main" id="{C77D77E2-9A44-5461-9ABA-9C208EBF4578}"/>
              </a:ext>
            </a:extLst>
          </p:cNvPr>
          <p:cNvSpPr/>
          <p:nvPr/>
        </p:nvSpPr>
        <p:spPr>
          <a:xfrm>
            <a:off x="219140" y="5135192"/>
            <a:ext cx="140043" cy="121255"/>
          </a:xfrm>
          <a:prstGeom prst="ellipse">
            <a:avLst/>
          </a:prstGeom>
          <a:solidFill>
            <a:srgbClr val="0070C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Ellipse 115">
            <a:extLst>
              <a:ext uri="{FF2B5EF4-FFF2-40B4-BE49-F238E27FC236}">
                <a16:creationId xmlns:a16="http://schemas.microsoft.com/office/drawing/2014/main" id="{038101AC-EBFA-6FB2-DFB6-EAEE1C6FD04D}"/>
              </a:ext>
            </a:extLst>
          </p:cNvPr>
          <p:cNvSpPr/>
          <p:nvPr/>
        </p:nvSpPr>
        <p:spPr>
          <a:xfrm>
            <a:off x="10278169" y="817246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329D8E6E-7CB9-2479-80C5-B73E1C7C0DBC}"/>
              </a:ext>
            </a:extLst>
          </p:cNvPr>
          <p:cNvSpPr txBox="1"/>
          <p:nvPr/>
        </p:nvSpPr>
        <p:spPr>
          <a:xfrm>
            <a:off x="10397719" y="750305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Functional req</a:t>
            </a: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437D658A-9E71-64ED-3F96-1211C8D360B6}"/>
              </a:ext>
            </a:extLst>
          </p:cNvPr>
          <p:cNvSpPr/>
          <p:nvPr/>
        </p:nvSpPr>
        <p:spPr>
          <a:xfrm>
            <a:off x="6118186" y="3768091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Ellipse 118">
            <a:extLst>
              <a:ext uri="{FF2B5EF4-FFF2-40B4-BE49-F238E27FC236}">
                <a16:creationId xmlns:a16="http://schemas.microsoft.com/office/drawing/2014/main" id="{F2563CE8-4C6F-7C61-6B1B-C07B967C3D0F}"/>
              </a:ext>
            </a:extLst>
          </p:cNvPr>
          <p:cNvSpPr/>
          <p:nvPr/>
        </p:nvSpPr>
        <p:spPr>
          <a:xfrm>
            <a:off x="5619305" y="2834132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90116008-B03D-F9CE-C4BE-96030792D9C0}"/>
              </a:ext>
            </a:extLst>
          </p:cNvPr>
          <p:cNvSpPr/>
          <p:nvPr/>
        </p:nvSpPr>
        <p:spPr>
          <a:xfrm>
            <a:off x="8225557" y="4098730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C4C9D1AF-EC9F-3063-7987-D4907DF86AAB}"/>
              </a:ext>
            </a:extLst>
          </p:cNvPr>
          <p:cNvSpPr/>
          <p:nvPr/>
        </p:nvSpPr>
        <p:spPr>
          <a:xfrm>
            <a:off x="8212342" y="3920847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92440ABB-76B0-6624-8619-7B36A5FD43CF}"/>
              </a:ext>
            </a:extLst>
          </p:cNvPr>
          <p:cNvSpPr/>
          <p:nvPr/>
        </p:nvSpPr>
        <p:spPr>
          <a:xfrm>
            <a:off x="9640745" y="2948819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D587B4EA-A979-B448-1680-3BDFEF4FBE47}"/>
              </a:ext>
            </a:extLst>
          </p:cNvPr>
          <p:cNvSpPr/>
          <p:nvPr/>
        </p:nvSpPr>
        <p:spPr>
          <a:xfrm>
            <a:off x="7625532" y="3120585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F8B17909-4FDF-92BC-BD20-CBEA1453227E}"/>
              </a:ext>
            </a:extLst>
          </p:cNvPr>
          <p:cNvSpPr/>
          <p:nvPr/>
        </p:nvSpPr>
        <p:spPr>
          <a:xfrm>
            <a:off x="3879055" y="3377813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332BF385-3A05-40C0-9877-C7AEAC70CEAF}"/>
              </a:ext>
            </a:extLst>
          </p:cNvPr>
          <p:cNvSpPr/>
          <p:nvPr/>
        </p:nvSpPr>
        <p:spPr>
          <a:xfrm>
            <a:off x="3917207" y="4359507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C9C9E35E-3FE9-F324-DCA6-DBEC3819C886}"/>
              </a:ext>
            </a:extLst>
          </p:cNvPr>
          <p:cNvSpPr/>
          <p:nvPr/>
        </p:nvSpPr>
        <p:spPr>
          <a:xfrm>
            <a:off x="3337226" y="5598579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6377C6F7-EFE9-B7C1-E27F-54FAA467658B}"/>
              </a:ext>
            </a:extLst>
          </p:cNvPr>
          <p:cNvSpPr/>
          <p:nvPr/>
        </p:nvSpPr>
        <p:spPr>
          <a:xfrm>
            <a:off x="3325288" y="5847110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9DF2C062-02D3-F28A-3FC9-04EED54BB13E}"/>
              </a:ext>
            </a:extLst>
          </p:cNvPr>
          <p:cNvSpPr/>
          <p:nvPr/>
        </p:nvSpPr>
        <p:spPr>
          <a:xfrm>
            <a:off x="3490460" y="626566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F5DCBDA0-2A8C-E8D1-E471-4EF42B3E2B70}"/>
              </a:ext>
            </a:extLst>
          </p:cNvPr>
          <p:cNvSpPr/>
          <p:nvPr/>
        </p:nvSpPr>
        <p:spPr>
          <a:xfrm>
            <a:off x="3530330" y="38951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BF39481E-EF43-C230-62CB-E1BB6C9423F9}"/>
              </a:ext>
            </a:extLst>
          </p:cNvPr>
          <p:cNvSpPr/>
          <p:nvPr/>
        </p:nvSpPr>
        <p:spPr>
          <a:xfrm>
            <a:off x="3530330" y="229329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CDCDFA1B-FD06-371E-79F0-AF44281F1C41}"/>
              </a:ext>
            </a:extLst>
          </p:cNvPr>
          <p:cNvSpPr/>
          <p:nvPr/>
        </p:nvSpPr>
        <p:spPr>
          <a:xfrm>
            <a:off x="3530330" y="446702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08A54912-7659-085F-35BA-0A1B5C2F3EB7}"/>
              </a:ext>
            </a:extLst>
          </p:cNvPr>
          <p:cNvSpPr/>
          <p:nvPr/>
        </p:nvSpPr>
        <p:spPr>
          <a:xfrm>
            <a:off x="3862838" y="1418720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BDA18D87-BD54-195F-75BD-18928302E65F}"/>
              </a:ext>
            </a:extLst>
          </p:cNvPr>
          <p:cNvSpPr/>
          <p:nvPr/>
        </p:nvSpPr>
        <p:spPr>
          <a:xfrm>
            <a:off x="3862838" y="1705179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4" name="Ellipse 133">
            <a:extLst>
              <a:ext uri="{FF2B5EF4-FFF2-40B4-BE49-F238E27FC236}">
                <a16:creationId xmlns:a16="http://schemas.microsoft.com/office/drawing/2014/main" id="{DDB1799E-FD99-31A7-D10A-9D7E195C0F17}"/>
              </a:ext>
            </a:extLst>
          </p:cNvPr>
          <p:cNvSpPr/>
          <p:nvPr/>
        </p:nvSpPr>
        <p:spPr>
          <a:xfrm>
            <a:off x="3806167" y="2198764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5" name="Ellipse 134">
            <a:extLst>
              <a:ext uri="{FF2B5EF4-FFF2-40B4-BE49-F238E27FC236}">
                <a16:creationId xmlns:a16="http://schemas.microsoft.com/office/drawing/2014/main" id="{EE73B3E5-DCA2-058C-93A7-7BEE75317234}"/>
              </a:ext>
            </a:extLst>
          </p:cNvPr>
          <p:cNvSpPr/>
          <p:nvPr/>
        </p:nvSpPr>
        <p:spPr>
          <a:xfrm>
            <a:off x="3798466" y="2446551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F5312FE9-57FE-73E7-FDF2-978741AB62A6}"/>
              </a:ext>
            </a:extLst>
          </p:cNvPr>
          <p:cNvSpPr/>
          <p:nvPr/>
        </p:nvSpPr>
        <p:spPr>
          <a:xfrm>
            <a:off x="5603959" y="2210704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7" name="Ellipse 136">
            <a:extLst>
              <a:ext uri="{FF2B5EF4-FFF2-40B4-BE49-F238E27FC236}">
                <a16:creationId xmlns:a16="http://schemas.microsoft.com/office/drawing/2014/main" id="{B7006020-7B12-9CDE-975A-58DDA9FAC234}"/>
              </a:ext>
            </a:extLst>
          </p:cNvPr>
          <p:cNvSpPr/>
          <p:nvPr/>
        </p:nvSpPr>
        <p:spPr>
          <a:xfrm>
            <a:off x="7611025" y="2837876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8" name="Ellipse 137">
            <a:extLst>
              <a:ext uri="{FF2B5EF4-FFF2-40B4-BE49-F238E27FC236}">
                <a16:creationId xmlns:a16="http://schemas.microsoft.com/office/drawing/2014/main" id="{567FF710-4793-DC60-837E-B29922874F24}"/>
              </a:ext>
            </a:extLst>
          </p:cNvPr>
          <p:cNvSpPr/>
          <p:nvPr/>
        </p:nvSpPr>
        <p:spPr>
          <a:xfrm>
            <a:off x="1973457" y="1656710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9" name="Ellipse 138">
            <a:extLst>
              <a:ext uri="{FF2B5EF4-FFF2-40B4-BE49-F238E27FC236}">
                <a16:creationId xmlns:a16="http://schemas.microsoft.com/office/drawing/2014/main" id="{35142EA5-81AF-FE8F-3E3A-FFDD4EBE8B29}"/>
              </a:ext>
            </a:extLst>
          </p:cNvPr>
          <p:cNvSpPr/>
          <p:nvPr/>
        </p:nvSpPr>
        <p:spPr>
          <a:xfrm>
            <a:off x="1968510" y="1113514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71A830F7-CEF5-97D7-2390-0BBF8A68BBD7}"/>
              </a:ext>
            </a:extLst>
          </p:cNvPr>
          <p:cNvSpPr/>
          <p:nvPr/>
        </p:nvSpPr>
        <p:spPr>
          <a:xfrm>
            <a:off x="6130161" y="4026091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208CD875-574A-9B8B-6862-8AA5BBFD9839}"/>
              </a:ext>
            </a:extLst>
          </p:cNvPr>
          <p:cNvSpPr/>
          <p:nvPr/>
        </p:nvSpPr>
        <p:spPr>
          <a:xfrm>
            <a:off x="6618778" y="5856755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87D205B4-4A54-D563-667E-55037E2BDD85}"/>
              </a:ext>
            </a:extLst>
          </p:cNvPr>
          <p:cNvSpPr/>
          <p:nvPr/>
        </p:nvSpPr>
        <p:spPr>
          <a:xfrm>
            <a:off x="6664375" y="6132493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7577285F-85ED-BF39-46E8-829F3C1398DD}"/>
              </a:ext>
            </a:extLst>
          </p:cNvPr>
          <p:cNvSpPr/>
          <p:nvPr/>
        </p:nvSpPr>
        <p:spPr>
          <a:xfrm>
            <a:off x="4947076" y="6192351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821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ED89-8005-7D47-FCF8-8B8E54920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332D7725-C3CF-BBAE-E71B-EE391CA88291}"/>
              </a:ext>
            </a:extLst>
          </p:cNvPr>
          <p:cNvCxnSpPr>
            <a:cxnSpLocks/>
            <a:stCxn id="15" idx="1"/>
            <a:endCxn id="76" idx="3"/>
          </p:cNvCxnSpPr>
          <p:nvPr/>
        </p:nvCxnSpPr>
        <p:spPr>
          <a:xfrm flipH="1">
            <a:off x="3335081" y="2273516"/>
            <a:ext cx="527757" cy="24192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hteck 73">
            <a:extLst>
              <a:ext uri="{FF2B5EF4-FFF2-40B4-BE49-F238E27FC236}">
                <a16:creationId xmlns:a16="http://schemas.microsoft.com/office/drawing/2014/main" id="{BF661497-AD59-7C10-F96E-CFA0DD98D965}"/>
              </a:ext>
            </a:extLst>
          </p:cNvPr>
          <p:cNvSpPr/>
          <p:nvPr/>
        </p:nvSpPr>
        <p:spPr>
          <a:xfrm>
            <a:off x="3153165" y="5303977"/>
            <a:ext cx="3923138" cy="1226812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23E439C3-0A38-2A34-AFD0-8167AFA52285}"/>
              </a:ext>
            </a:extLst>
          </p:cNvPr>
          <p:cNvSpPr/>
          <p:nvPr/>
        </p:nvSpPr>
        <p:spPr>
          <a:xfrm>
            <a:off x="246955" y="180210"/>
            <a:ext cx="1114633" cy="200234"/>
          </a:xfrm>
          <a:prstGeom prst="roundRect">
            <a:avLst/>
          </a:prstGeom>
          <a:solidFill>
            <a:srgbClr val="473464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13: mass rollout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C2FAAD2-0421-F6BB-211C-A14EA3AD5EA3}"/>
              </a:ext>
            </a:extLst>
          </p:cNvPr>
          <p:cNvSpPr/>
          <p:nvPr/>
        </p:nvSpPr>
        <p:spPr>
          <a:xfrm>
            <a:off x="269140" y="3029207"/>
            <a:ext cx="1114633" cy="347072"/>
          </a:xfrm>
          <a:prstGeom prst="roundRect">
            <a:avLst/>
          </a:prstGeom>
          <a:solidFill>
            <a:srgbClr val="473464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14: FW check + upgrade (1 IDU)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A1CDE90F-2954-F98A-AE05-7C1A24A428D3}"/>
              </a:ext>
            </a:extLst>
          </p:cNvPr>
          <p:cNvSpPr/>
          <p:nvPr/>
        </p:nvSpPr>
        <p:spPr>
          <a:xfrm>
            <a:off x="247064" y="3813073"/>
            <a:ext cx="1114633" cy="347072"/>
          </a:xfrm>
          <a:prstGeom prst="roundRect">
            <a:avLst/>
          </a:prstGeom>
          <a:solidFill>
            <a:srgbClr val="473464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15: on-demand FW upgrade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D791CF1-6E3B-06B5-3A44-79F5025027D8}"/>
              </a:ext>
            </a:extLst>
          </p:cNvPr>
          <p:cNvSpPr/>
          <p:nvPr/>
        </p:nvSpPr>
        <p:spPr>
          <a:xfrm>
            <a:off x="246955" y="2447417"/>
            <a:ext cx="1114633" cy="347072"/>
          </a:xfrm>
          <a:prstGeom prst="roundRect">
            <a:avLst/>
          </a:prstGeom>
          <a:solidFill>
            <a:srgbClr val="473464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/>
              <a:t>16: QM FW reporting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6002575-4330-C020-A905-6E31970FA42E}"/>
              </a:ext>
            </a:extLst>
          </p:cNvPr>
          <p:cNvSpPr/>
          <p:nvPr/>
        </p:nvSpPr>
        <p:spPr>
          <a:xfrm>
            <a:off x="309186" y="5095703"/>
            <a:ext cx="1114633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31: all vendors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5B3D97A-A4C0-DD8E-4931-E43B93DAA89C}"/>
              </a:ext>
            </a:extLst>
          </p:cNvPr>
          <p:cNvSpPr/>
          <p:nvPr/>
        </p:nvSpPr>
        <p:spPr>
          <a:xfrm>
            <a:off x="2060717" y="2012311"/>
            <a:ext cx="1114633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>
                <a:solidFill>
                  <a:schemeClr val="tx1">
                    <a:lumMod val="75000"/>
                    <a:lumOff val="25000"/>
                  </a:schemeClr>
                </a:solidFill>
              </a:rPr>
              <a:t>33: GUI UX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101E94A8-02B7-F059-0D81-AE2AC30CACAD}"/>
              </a:ext>
            </a:extLst>
          </p:cNvPr>
          <p:cNvSpPr/>
          <p:nvPr/>
        </p:nvSpPr>
        <p:spPr>
          <a:xfrm>
            <a:off x="2060717" y="1630086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17: GUI module; projects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A56886D-8C67-3F87-2FAA-7B7422A0B811}"/>
              </a:ext>
            </a:extLst>
          </p:cNvPr>
          <p:cNvSpPr/>
          <p:nvPr/>
        </p:nvSpPr>
        <p:spPr>
          <a:xfrm>
            <a:off x="2060717" y="107675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18: interface to MDOI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3431634-4020-FCE2-316F-5BC736666629}"/>
              </a:ext>
            </a:extLst>
          </p:cNvPr>
          <p:cNvSpPr/>
          <p:nvPr/>
        </p:nvSpPr>
        <p:spPr>
          <a:xfrm>
            <a:off x="3946210" y="1405831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19: maintain IDU blacklist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8D27F69-4ADC-B26B-470D-2594893C5297}"/>
              </a:ext>
            </a:extLst>
          </p:cNvPr>
          <p:cNvSpPr/>
          <p:nvPr/>
        </p:nvSpPr>
        <p:spPr>
          <a:xfrm>
            <a:off x="5999518" y="1407364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20: exclude blacklist IDUs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C810777A-3539-B893-FF6A-B82F2A211189}"/>
              </a:ext>
            </a:extLst>
          </p:cNvPr>
          <p:cNvSpPr/>
          <p:nvPr/>
        </p:nvSpPr>
        <p:spPr>
          <a:xfrm>
            <a:off x="3946210" y="1665690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21: mapping IDU – device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A2D68F7-1EE6-6E31-C5AE-1483F1011019}"/>
              </a:ext>
            </a:extLst>
          </p:cNvPr>
          <p:cNvSpPr/>
          <p:nvPr/>
        </p:nvSpPr>
        <p:spPr>
          <a:xfrm>
            <a:off x="3862838" y="2173399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22: project scheduling 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D827B7EF-AC46-1017-4476-767F02EA85A7}"/>
              </a:ext>
            </a:extLst>
          </p:cNvPr>
          <p:cNvSpPr/>
          <p:nvPr/>
        </p:nvSpPr>
        <p:spPr>
          <a:xfrm>
            <a:off x="3862838" y="2385926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24: manual project exec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7966C60-6C37-0619-F842-9B1253F272A7}"/>
              </a:ext>
            </a:extLst>
          </p:cNvPr>
          <p:cNvSpPr/>
          <p:nvPr/>
        </p:nvSpPr>
        <p:spPr>
          <a:xfrm>
            <a:off x="7704540" y="2808956"/>
            <a:ext cx="1609656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25: list upgrade results 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89478F58-8269-02C5-349D-A55E034339A5}"/>
              </a:ext>
            </a:extLst>
          </p:cNvPr>
          <p:cNvSpPr/>
          <p:nvPr/>
        </p:nvSpPr>
        <p:spPr>
          <a:xfrm>
            <a:off x="9757295" y="2708839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26: meaningful SDN responses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F72B111-7D80-67E3-CEBA-CF99F223BFFD}"/>
              </a:ext>
            </a:extLst>
          </p:cNvPr>
          <p:cNvSpPr/>
          <p:nvPr/>
        </p:nvSpPr>
        <p:spPr>
          <a:xfrm>
            <a:off x="9757295" y="290907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27: GUI interprets responses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E86E20D0-F133-D473-121F-CCBEFF0E37A4}"/>
              </a:ext>
            </a:extLst>
          </p:cNvPr>
          <p:cNvSpPr/>
          <p:nvPr/>
        </p:nvSpPr>
        <p:spPr>
          <a:xfrm>
            <a:off x="5698313" y="2173399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23: interface TSM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AFAA691D-14FC-B502-08CD-0F4EC5CAE8D4}"/>
              </a:ext>
            </a:extLst>
          </p:cNvPr>
          <p:cNvSpPr/>
          <p:nvPr/>
        </p:nvSpPr>
        <p:spPr>
          <a:xfrm>
            <a:off x="3601189" y="1278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28: access GLORIA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81D7D4B-204B-7F5C-F185-680A7C18AA5B}"/>
              </a:ext>
            </a:extLst>
          </p:cNvPr>
          <p:cNvSpPr/>
          <p:nvPr/>
        </p:nvSpPr>
        <p:spPr>
          <a:xfrm>
            <a:off x="3601189" y="193725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29: download FW to NMS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7A91ACD-C0FE-F47A-BE83-8DDE571B358D}"/>
              </a:ext>
            </a:extLst>
          </p:cNvPr>
          <p:cNvSpPr/>
          <p:nvPr/>
        </p:nvSpPr>
        <p:spPr>
          <a:xfrm>
            <a:off x="3601189" y="402311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30: FW housekeeping 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236000BE-D518-0F94-A5EF-B5EC48D7084F}"/>
              </a:ext>
            </a:extLst>
          </p:cNvPr>
          <p:cNvSpPr/>
          <p:nvPr/>
        </p:nvSpPr>
        <p:spPr>
          <a:xfrm>
            <a:off x="7704540" y="3095968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32: change log 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D24160C4-97B0-F47F-1533-5B416765D303}"/>
              </a:ext>
            </a:extLst>
          </p:cNvPr>
          <p:cNvSpPr/>
          <p:nvPr/>
        </p:nvSpPr>
        <p:spPr>
          <a:xfrm>
            <a:off x="6208355" y="3988661"/>
            <a:ext cx="1609656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34: get current installed FW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B6107AA5-922C-C91E-A4BB-4106C7D5A9BB}"/>
              </a:ext>
            </a:extLst>
          </p:cNvPr>
          <p:cNvSpPr/>
          <p:nvPr/>
        </p:nvSpPr>
        <p:spPr>
          <a:xfrm>
            <a:off x="8317418" y="3871826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700">
                <a:solidFill>
                  <a:schemeClr val="tx1"/>
                </a:solidFill>
              </a:rPr>
              <a:t>35: GUI dialogue: get installed FW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458876B7-B96E-4B5C-81C7-A418DC3744CF}"/>
              </a:ext>
            </a:extLst>
          </p:cNvPr>
          <p:cNvSpPr/>
          <p:nvPr/>
        </p:nvSpPr>
        <p:spPr>
          <a:xfrm>
            <a:off x="8317418" y="4095964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36: SDN: get FW from device</a:t>
            </a:r>
            <a:r>
              <a:rPr lang="de-DE" sz="10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7E3CD97F-4499-DE22-7006-E4C560393CA3}"/>
              </a:ext>
            </a:extLst>
          </p:cNvPr>
          <p:cNvSpPr/>
          <p:nvPr/>
        </p:nvSpPr>
        <p:spPr>
          <a:xfrm>
            <a:off x="4009123" y="4335152"/>
            <a:ext cx="1756774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37: FW upgrade (auto/manual)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EBD84260-0BB4-EA12-BCF3-41B336A26015}"/>
              </a:ext>
            </a:extLst>
          </p:cNvPr>
          <p:cNvSpPr/>
          <p:nvPr/>
        </p:nvSpPr>
        <p:spPr>
          <a:xfrm>
            <a:off x="3978243" y="3347287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38: periodic comparisons 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18335871-7E3C-366F-F71C-C24DB72ED53A}"/>
              </a:ext>
            </a:extLst>
          </p:cNvPr>
          <p:cNvSpPr/>
          <p:nvPr/>
        </p:nvSpPr>
        <p:spPr>
          <a:xfrm>
            <a:off x="3601189" y="617012"/>
            <a:ext cx="1609656" cy="200234"/>
          </a:xfrm>
          <a:prstGeom prst="roundRect">
            <a:avLst/>
          </a:prstGeom>
          <a:solidFill>
            <a:srgbClr val="FFC000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000">
                <a:solidFill>
                  <a:schemeClr val="tx1"/>
                </a:solidFill>
              </a:rPr>
              <a:t>39: upload FW to devices 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327C0BEF-43CA-4268-146C-63B527ABBE92}"/>
              </a:ext>
            </a:extLst>
          </p:cNvPr>
          <p:cNvSpPr/>
          <p:nvPr/>
        </p:nvSpPr>
        <p:spPr>
          <a:xfrm>
            <a:off x="3415417" y="5560273"/>
            <a:ext cx="1609656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40: rollback/forced installation 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A5BA130B-2AB1-E121-C751-FA899D67063E}"/>
              </a:ext>
            </a:extLst>
          </p:cNvPr>
          <p:cNvSpPr/>
          <p:nvPr/>
        </p:nvSpPr>
        <p:spPr>
          <a:xfrm>
            <a:off x="5698313" y="282897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41: auto-handing problem IDUs 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24BAF43D-2B8E-9B4D-B2C7-DB8BAD18F420}"/>
              </a:ext>
            </a:extLst>
          </p:cNvPr>
          <p:cNvSpPr/>
          <p:nvPr/>
        </p:nvSpPr>
        <p:spPr>
          <a:xfrm>
            <a:off x="289162" y="5370827"/>
            <a:ext cx="1154679" cy="200234"/>
          </a:xfrm>
          <a:prstGeom prst="roundRect">
            <a:avLst/>
          </a:prstGeom>
          <a:gradFill flip="none" rotWithShape="1">
            <a:gsLst>
              <a:gs pos="0">
                <a:srgbClr val="FFFFCC"/>
              </a:gs>
              <a:gs pos="100000">
                <a:srgbClr val="FFC000"/>
              </a:gs>
            </a:gsLst>
            <a:lin ang="27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42: basekey usage</a:t>
            </a:r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D211967-1921-1BA2-34C6-E3D8853AEBC5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5555866" y="1505948"/>
            <a:ext cx="443652" cy="1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9097A25F-2308-968E-A07A-D811D8DF2F73}"/>
              </a:ext>
            </a:extLst>
          </p:cNvPr>
          <p:cNvCxnSpPr>
            <a:cxnSpLocks/>
            <a:stCxn id="15" idx="3"/>
            <a:endCxn id="20" idx="1"/>
          </p:cNvCxnSpPr>
          <p:nvPr/>
        </p:nvCxnSpPr>
        <p:spPr>
          <a:xfrm>
            <a:off x="5472494" y="2273516"/>
            <a:ext cx="2258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FF4767F5-7A71-14C1-DFD6-057B9FAFF4CC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9314196" y="2808956"/>
            <a:ext cx="443099" cy="100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E7B517BD-6446-72D8-A639-88F6B3604BA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9314196" y="2909073"/>
            <a:ext cx="443099" cy="100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26C5980C-AFBC-F0B4-1DE1-E70CF37F56F7}"/>
              </a:ext>
            </a:extLst>
          </p:cNvPr>
          <p:cNvCxnSpPr>
            <a:stCxn id="32" idx="3"/>
            <a:endCxn id="17" idx="1"/>
          </p:cNvCxnSpPr>
          <p:nvPr/>
        </p:nvCxnSpPr>
        <p:spPr>
          <a:xfrm flipV="1">
            <a:off x="7307969" y="2909073"/>
            <a:ext cx="396571" cy="200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08F63D15-1929-8965-0845-AA4CC183AD8D}"/>
              </a:ext>
            </a:extLst>
          </p:cNvPr>
          <p:cNvCxnSpPr>
            <a:stCxn id="32" idx="3"/>
            <a:endCxn id="24" idx="1"/>
          </p:cNvCxnSpPr>
          <p:nvPr/>
        </p:nvCxnSpPr>
        <p:spPr>
          <a:xfrm>
            <a:off x="7307969" y="2929090"/>
            <a:ext cx="396571" cy="2669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D0EE528D-23E2-2ACF-07AB-E0D4115E3B4E}"/>
              </a:ext>
            </a:extLst>
          </p:cNvPr>
          <p:cNvSpPr/>
          <p:nvPr/>
        </p:nvSpPr>
        <p:spPr>
          <a:xfrm>
            <a:off x="6208355" y="3738369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44: determine target FW version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26667419-4CE7-5867-BFEE-B5B4BA3295DB}"/>
              </a:ext>
            </a:extLst>
          </p:cNvPr>
          <p:cNvSpPr/>
          <p:nvPr/>
        </p:nvSpPr>
        <p:spPr>
          <a:xfrm>
            <a:off x="2038532" y="172587"/>
            <a:ext cx="1191113" cy="5777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45: FW distribution orchestration</a:t>
            </a:r>
          </a:p>
          <a:p>
            <a:r>
              <a:rPr lang="de-DE" sz="900">
                <a:solidFill>
                  <a:schemeClr val="tx1"/>
                </a:solidFill>
              </a:rPr>
              <a:t>(ClusterIssue - no requirement)</a:t>
            </a: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342D29D4-B106-1155-33A7-A2BADF28BB67}"/>
              </a:ext>
            </a:extLst>
          </p:cNvPr>
          <p:cNvCxnSpPr>
            <a:cxnSpLocks/>
            <a:stCxn id="41" idx="3"/>
            <a:endCxn id="21" idx="1"/>
          </p:cNvCxnSpPr>
          <p:nvPr/>
        </p:nvCxnSpPr>
        <p:spPr>
          <a:xfrm flipV="1">
            <a:off x="3229645" y="101395"/>
            <a:ext cx="371544" cy="3600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B10665C2-7FD6-212D-BE0C-1F6CE342085E}"/>
              </a:ext>
            </a:extLst>
          </p:cNvPr>
          <p:cNvCxnSpPr>
            <a:cxnSpLocks/>
            <a:stCxn id="41" idx="3"/>
            <a:endCxn id="22" idx="1"/>
          </p:cNvCxnSpPr>
          <p:nvPr/>
        </p:nvCxnSpPr>
        <p:spPr>
          <a:xfrm flipV="1">
            <a:off x="3229645" y="293842"/>
            <a:ext cx="371544" cy="167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3F217F46-A413-FA71-5FFE-781C8FF8DFFC}"/>
              </a:ext>
            </a:extLst>
          </p:cNvPr>
          <p:cNvCxnSpPr>
            <a:cxnSpLocks/>
            <a:stCxn id="41" idx="3"/>
            <a:endCxn id="23" idx="1"/>
          </p:cNvCxnSpPr>
          <p:nvPr/>
        </p:nvCxnSpPr>
        <p:spPr>
          <a:xfrm>
            <a:off x="3229645" y="461446"/>
            <a:ext cx="371544" cy="409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095FB131-01F5-1584-5E86-CFF8FE3CD173}"/>
              </a:ext>
            </a:extLst>
          </p:cNvPr>
          <p:cNvCxnSpPr>
            <a:cxnSpLocks/>
            <a:stCxn id="41" idx="3"/>
            <a:endCxn id="30" idx="1"/>
          </p:cNvCxnSpPr>
          <p:nvPr/>
        </p:nvCxnSpPr>
        <p:spPr>
          <a:xfrm>
            <a:off x="3229645" y="461446"/>
            <a:ext cx="371544" cy="2556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B1623003-6508-811B-1A77-7A4B4960F1D9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818011" y="4088778"/>
            <a:ext cx="499407" cy="1073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24A5260-C938-F1CD-D36E-D415C96EFA40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7818011" y="3971943"/>
            <a:ext cx="499407" cy="1168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277CC76A-F270-3514-72DD-93BE77843E51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>
            <a:off x="5472494" y="2486043"/>
            <a:ext cx="225819" cy="443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B6EE8ED5-0F64-BA9D-994A-5FCCFFA8FB81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3670373" y="1730203"/>
            <a:ext cx="192465" cy="7558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6C3D91A-B1C4-F2A5-7A0F-F0F9E935408E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>
            <a:off x="3670373" y="1730203"/>
            <a:ext cx="192465" cy="543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AAB72DE8-990F-8818-3147-D10F5B398D6D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361588" y="280327"/>
            <a:ext cx="699129" cy="14498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4A76A1E1-2B79-29DB-BAD1-EADE012E1814}"/>
              </a:ext>
            </a:extLst>
          </p:cNvPr>
          <p:cNvCxnSpPr>
            <a:cxnSpLocks/>
            <a:stCxn id="4" idx="3"/>
            <a:endCxn id="11" idx="1"/>
          </p:cNvCxnSpPr>
          <p:nvPr/>
        </p:nvCxnSpPr>
        <p:spPr>
          <a:xfrm>
            <a:off x="1361588" y="280327"/>
            <a:ext cx="699129" cy="8965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3D2C4CEA-5140-5E9E-824D-5EF495450782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>
            <a:off x="1361588" y="280327"/>
            <a:ext cx="676944" cy="1811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1D78A60D-2D04-9ED1-3430-56B2846AB67E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670373" y="1505948"/>
            <a:ext cx="275837" cy="2206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916739F4-7792-97F0-5605-612085B15EF6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>
            <a:off x="3670373" y="1730203"/>
            <a:ext cx="275837" cy="356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C4FBAEF9-FFD8-8C02-CB99-25F84F3F6E26}"/>
              </a:ext>
            </a:extLst>
          </p:cNvPr>
          <p:cNvSpPr/>
          <p:nvPr/>
        </p:nvSpPr>
        <p:spPr>
          <a:xfrm>
            <a:off x="5989120" y="165044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43: rollout per device not IDU</a:t>
            </a: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51EB9371-9348-DD74-2BFC-20169B5A83E4}"/>
              </a:ext>
            </a:extLst>
          </p:cNvPr>
          <p:cNvCxnSpPr>
            <a:cxnSpLocks/>
            <a:stCxn id="12" idx="3"/>
            <a:endCxn id="56" idx="1"/>
          </p:cNvCxnSpPr>
          <p:nvPr/>
        </p:nvCxnSpPr>
        <p:spPr>
          <a:xfrm>
            <a:off x="5555866" y="1505948"/>
            <a:ext cx="433254" cy="2446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240CE4F0-3E7A-5B48-86C1-1AC2FA7FE31A}"/>
              </a:ext>
            </a:extLst>
          </p:cNvPr>
          <p:cNvCxnSpPr>
            <a:stCxn id="6" idx="3"/>
            <a:endCxn id="28" idx="1"/>
          </p:cNvCxnSpPr>
          <p:nvPr/>
        </p:nvCxnSpPr>
        <p:spPr>
          <a:xfrm>
            <a:off x="1361697" y="3986609"/>
            <a:ext cx="2647426" cy="4486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B42C8E00-90D1-4140-68E4-2C276F67DEDC}"/>
              </a:ext>
            </a:extLst>
          </p:cNvPr>
          <p:cNvSpPr/>
          <p:nvPr/>
        </p:nvSpPr>
        <p:spPr>
          <a:xfrm>
            <a:off x="3987229" y="3602801"/>
            <a:ext cx="1756773" cy="214037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46: on demand comparison installed/target FW</a:t>
            </a:r>
          </a:p>
        </p:txBody>
      </p: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F1BB62E7-FC90-B967-5920-5F53AE822D89}"/>
              </a:ext>
            </a:extLst>
          </p:cNvPr>
          <p:cNvCxnSpPr>
            <a:cxnSpLocks/>
            <a:stCxn id="59" idx="3"/>
            <a:endCxn id="40" idx="1"/>
          </p:cNvCxnSpPr>
          <p:nvPr/>
        </p:nvCxnSpPr>
        <p:spPr>
          <a:xfrm>
            <a:off x="5744002" y="3709820"/>
            <a:ext cx="464353" cy="128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CF68F65C-36B0-D326-2B69-4B4A8EDE320D}"/>
              </a:ext>
            </a:extLst>
          </p:cNvPr>
          <p:cNvCxnSpPr>
            <a:cxnSpLocks/>
            <a:stCxn id="59" idx="3"/>
            <a:endCxn id="25" idx="1"/>
          </p:cNvCxnSpPr>
          <p:nvPr/>
        </p:nvCxnSpPr>
        <p:spPr>
          <a:xfrm>
            <a:off x="5744002" y="3709820"/>
            <a:ext cx="464353" cy="3789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F36609D6-3404-EA79-5AF2-5A0BF03DC058}"/>
              </a:ext>
            </a:extLst>
          </p:cNvPr>
          <p:cNvCxnSpPr>
            <a:cxnSpLocks/>
            <a:stCxn id="7" idx="3"/>
            <a:endCxn id="59" idx="1"/>
          </p:cNvCxnSpPr>
          <p:nvPr/>
        </p:nvCxnSpPr>
        <p:spPr>
          <a:xfrm>
            <a:off x="1361588" y="2620953"/>
            <a:ext cx="2625641" cy="10888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74680763-AE51-92FD-6EF6-BF8D04D46968}"/>
              </a:ext>
            </a:extLst>
          </p:cNvPr>
          <p:cNvCxnSpPr>
            <a:cxnSpLocks/>
            <a:stCxn id="29" idx="3"/>
            <a:endCxn id="25" idx="1"/>
          </p:cNvCxnSpPr>
          <p:nvPr/>
        </p:nvCxnSpPr>
        <p:spPr>
          <a:xfrm>
            <a:off x="5587899" y="3447404"/>
            <a:ext cx="620456" cy="641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1A964317-0381-25B8-C88D-448942B0E1FB}"/>
              </a:ext>
            </a:extLst>
          </p:cNvPr>
          <p:cNvCxnSpPr>
            <a:cxnSpLocks/>
            <a:stCxn id="29" idx="3"/>
            <a:endCxn id="40" idx="1"/>
          </p:cNvCxnSpPr>
          <p:nvPr/>
        </p:nvCxnSpPr>
        <p:spPr>
          <a:xfrm>
            <a:off x="5587899" y="3447404"/>
            <a:ext cx="620456" cy="3910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9A0208DC-13A9-3846-F215-8A5BF87C5368}"/>
              </a:ext>
            </a:extLst>
          </p:cNvPr>
          <p:cNvCxnSpPr>
            <a:cxnSpLocks/>
            <a:stCxn id="7" idx="3"/>
            <a:endCxn id="29" idx="1"/>
          </p:cNvCxnSpPr>
          <p:nvPr/>
        </p:nvCxnSpPr>
        <p:spPr>
          <a:xfrm>
            <a:off x="1361588" y="2620953"/>
            <a:ext cx="2616655" cy="8264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B57AF5DD-695A-CD7A-634F-BC4D5134B975}"/>
              </a:ext>
            </a:extLst>
          </p:cNvPr>
          <p:cNvCxnSpPr>
            <a:cxnSpLocks/>
            <a:stCxn id="5" idx="3"/>
            <a:endCxn id="59" idx="1"/>
          </p:cNvCxnSpPr>
          <p:nvPr/>
        </p:nvCxnSpPr>
        <p:spPr>
          <a:xfrm>
            <a:off x="1383773" y="3202743"/>
            <a:ext cx="2603456" cy="507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941CD42F-27EA-611F-F23E-3427B7B3246A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1383773" y="3202743"/>
            <a:ext cx="2625350" cy="12325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AAB8B2D0-A58F-AD0A-3B78-CE6A0D797519}"/>
              </a:ext>
            </a:extLst>
          </p:cNvPr>
          <p:cNvSpPr txBox="1"/>
          <p:nvPr/>
        </p:nvSpPr>
        <p:spPr>
          <a:xfrm>
            <a:off x="3337226" y="5303977"/>
            <a:ext cx="16289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/>
              <a:t>Waiting for confirmation by Peter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7B9E1D0-0570-58D0-D60A-5FFB6FAEB7F0}"/>
              </a:ext>
            </a:extLst>
          </p:cNvPr>
          <p:cNvSpPr/>
          <p:nvPr/>
        </p:nvSpPr>
        <p:spPr>
          <a:xfrm>
            <a:off x="3415417" y="5820132"/>
            <a:ext cx="1609656" cy="2002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X1: FW checksum validation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5D368080-D72D-C8E5-B01D-594B934A6823}"/>
              </a:ext>
            </a:extLst>
          </p:cNvPr>
          <p:cNvSpPr/>
          <p:nvPr/>
        </p:nvSpPr>
        <p:spPr>
          <a:xfrm>
            <a:off x="3415417" y="6113372"/>
            <a:ext cx="1609656" cy="2807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X2: handling service affecting activation</a:t>
            </a:r>
          </a:p>
        </p:txBody>
      </p:sp>
      <p:sp>
        <p:nvSpPr>
          <p:cNvPr id="69" name="Rechteck: abgerundete Ecken 68">
            <a:extLst>
              <a:ext uri="{FF2B5EF4-FFF2-40B4-BE49-F238E27FC236}">
                <a16:creationId xmlns:a16="http://schemas.microsoft.com/office/drawing/2014/main" id="{19D02A01-0002-6374-F199-B72F8C680BFC}"/>
              </a:ext>
            </a:extLst>
          </p:cNvPr>
          <p:cNvSpPr/>
          <p:nvPr/>
        </p:nvSpPr>
        <p:spPr>
          <a:xfrm>
            <a:off x="5149165" y="5818599"/>
            <a:ext cx="1609656" cy="2002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X3: topology awareness</a:t>
            </a:r>
          </a:p>
        </p:txBody>
      </p:sp>
      <p:sp>
        <p:nvSpPr>
          <p:cNvPr id="70" name="Rechteck: abgerundete Ecken 69">
            <a:extLst>
              <a:ext uri="{FF2B5EF4-FFF2-40B4-BE49-F238E27FC236}">
                <a16:creationId xmlns:a16="http://schemas.microsoft.com/office/drawing/2014/main" id="{45F52A12-DCD6-B1C1-2EED-B8A8C3009066}"/>
              </a:ext>
            </a:extLst>
          </p:cNvPr>
          <p:cNvSpPr/>
          <p:nvPr/>
        </p:nvSpPr>
        <p:spPr>
          <a:xfrm>
            <a:off x="5149165" y="6113372"/>
            <a:ext cx="1609656" cy="2002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X4: required reboot handling</a:t>
            </a:r>
          </a:p>
        </p:txBody>
      </p: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5AB59C58-E614-2B09-9B2F-5588E0B45454}"/>
              </a:ext>
            </a:extLst>
          </p:cNvPr>
          <p:cNvCxnSpPr>
            <a:cxnSpLocks/>
            <a:stCxn id="10" idx="2"/>
            <a:endCxn id="9" idx="0"/>
          </p:cNvCxnSpPr>
          <p:nvPr/>
        </p:nvCxnSpPr>
        <p:spPr>
          <a:xfrm flipH="1">
            <a:off x="2618034" y="1830320"/>
            <a:ext cx="247511" cy="181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22D3077E-0976-092D-9943-5EEAF3DE35CA}"/>
              </a:ext>
            </a:extLst>
          </p:cNvPr>
          <p:cNvSpPr/>
          <p:nvPr/>
        </p:nvSpPr>
        <p:spPr>
          <a:xfrm>
            <a:off x="3926560" y="1067203"/>
            <a:ext cx="1609656" cy="200234"/>
          </a:xfrm>
          <a:prstGeom prst="roundRect">
            <a:avLst/>
          </a:prstGeom>
          <a:solidFill>
            <a:srgbClr val="FFFFCC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48: Exec in MDOI / not MDOI</a:t>
            </a:r>
          </a:p>
        </p:txBody>
      </p: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EA511DE4-B704-9081-2BF0-67A039994320}"/>
              </a:ext>
            </a:extLst>
          </p:cNvPr>
          <p:cNvCxnSpPr>
            <a:cxnSpLocks/>
            <a:stCxn id="11" idx="3"/>
            <a:endCxn id="83" idx="1"/>
          </p:cNvCxnSpPr>
          <p:nvPr/>
        </p:nvCxnSpPr>
        <p:spPr>
          <a:xfrm flipV="1">
            <a:off x="3670373" y="1167320"/>
            <a:ext cx="256187" cy="95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Ellipse 100">
            <a:extLst>
              <a:ext uri="{FF2B5EF4-FFF2-40B4-BE49-F238E27FC236}">
                <a16:creationId xmlns:a16="http://schemas.microsoft.com/office/drawing/2014/main" id="{DEB8AC2A-4679-E6B9-D088-4BBFEFD2AE02}"/>
              </a:ext>
            </a:extLst>
          </p:cNvPr>
          <p:cNvSpPr/>
          <p:nvPr/>
        </p:nvSpPr>
        <p:spPr>
          <a:xfrm>
            <a:off x="10272584" y="172587"/>
            <a:ext cx="140043" cy="121255"/>
          </a:xfrm>
          <a:prstGeom prst="ellipse">
            <a:avLst/>
          </a:prstGeom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7F2AECBE-2941-2E5E-C07E-0D4C1E244BBB}"/>
              </a:ext>
            </a:extLst>
          </p:cNvPr>
          <p:cNvSpPr txBox="1"/>
          <p:nvPr/>
        </p:nvSpPr>
        <p:spPr>
          <a:xfrm>
            <a:off x="10406257" y="101395"/>
            <a:ext cx="8483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Quality req</a:t>
            </a:r>
          </a:p>
        </p:txBody>
      </p:sp>
      <p:sp>
        <p:nvSpPr>
          <p:cNvPr id="103" name="Ellipse 102">
            <a:extLst>
              <a:ext uri="{FF2B5EF4-FFF2-40B4-BE49-F238E27FC236}">
                <a16:creationId xmlns:a16="http://schemas.microsoft.com/office/drawing/2014/main" id="{234F233B-E800-A795-607F-57418BEA8A08}"/>
              </a:ext>
            </a:extLst>
          </p:cNvPr>
          <p:cNvSpPr/>
          <p:nvPr/>
        </p:nvSpPr>
        <p:spPr>
          <a:xfrm>
            <a:off x="3856538" y="1097873"/>
            <a:ext cx="140043" cy="121255"/>
          </a:xfrm>
          <a:prstGeom prst="ellipse">
            <a:avLst/>
          </a:prstGeom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4" name="Ellipse 103">
            <a:extLst>
              <a:ext uri="{FF2B5EF4-FFF2-40B4-BE49-F238E27FC236}">
                <a16:creationId xmlns:a16="http://schemas.microsoft.com/office/drawing/2014/main" id="{4EBD80E7-4DF0-BECD-06FF-A9C203FCB9D2}"/>
              </a:ext>
            </a:extLst>
          </p:cNvPr>
          <p:cNvSpPr/>
          <p:nvPr/>
        </p:nvSpPr>
        <p:spPr>
          <a:xfrm>
            <a:off x="2038532" y="2042564"/>
            <a:ext cx="140043" cy="121255"/>
          </a:xfrm>
          <a:prstGeom prst="ellipse">
            <a:avLst/>
          </a:prstGeom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5" name="Ellipse 104">
            <a:extLst>
              <a:ext uri="{FF2B5EF4-FFF2-40B4-BE49-F238E27FC236}">
                <a16:creationId xmlns:a16="http://schemas.microsoft.com/office/drawing/2014/main" id="{1875B055-57B3-53C4-D82D-47355D72C28A}"/>
              </a:ext>
            </a:extLst>
          </p:cNvPr>
          <p:cNvSpPr/>
          <p:nvPr/>
        </p:nvSpPr>
        <p:spPr>
          <a:xfrm>
            <a:off x="9649453" y="2757925"/>
            <a:ext cx="140043" cy="121255"/>
          </a:xfrm>
          <a:prstGeom prst="ellipse">
            <a:avLst/>
          </a:prstGeom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6" name="Ellipse 105">
            <a:extLst>
              <a:ext uri="{FF2B5EF4-FFF2-40B4-BE49-F238E27FC236}">
                <a16:creationId xmlns:a16="http://schemas.microsoft.com/office/drawing/2014/main" id="{7FA9E088-3BE3-D4B8-2AAC-8F4159D702A0}"/>
              </a:ext>
            </a:extLst>
          </p:cNvPr>
          <p:cNvSpPr/>
          <p:nvPr/>
        </p:nvSpPr>
        <p:spPr>
          <a:xfrm>
            <a:off x="10268644" y="381173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20CC99BA-52DC-29EE-B8A8-BA9622060FFD}"/>
              </a:ext>
            </a:extLst>
          </p:cNvPr>
          <p:cNvSpPr txBox="1"/>
          <p:nvPr/>
        </p:nvSpPr>
        <p:spPr>
          <a:xfrm>
            <a:off x="10406257" y="323582"/>
            <a:ext cx="10438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Business Rule</a:t>
            </a:r>
          </a:p>
        </p:txBody>
      </p:sp>
      <p:sp>
        <p:nvSpPr>
          <p:cNvPr id="108" name="Ellipse 107">
            <a:extLst>
              <a:ext uri="{FF2B5EF4-FFF2-40B4-BE49-F238E27FC236}">
                <a16:creationId xmlns:a16="http://schemas.microsoft.com/office/drawing/2014/main" id="{E7DDC1F3-1F12-9840-EEAD-0B04008BE439}"/>
              </a:ext>
            </a:extLst>
          </p:cNvPr>
          <p:cNvSpPr/>
          <p:nvPr/>
        </p:nvSpPr>
        <p:spPr>
          <a:xfrm>
            <a:off x="5919098" y="1665942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7CA875D-7A8C-F0CE-128D-9BAEA747F2AB}"/>
              </a:ext>
            </a:extLst>
          </p:cNvPr>
          <p:cNvSpPr/>
          <p:nvPr/>
        </p:nvSpPr>
        <p:spPr>
          <a:xfrm>
            <a:off x="219140" y="5398166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8FDD7CC4-39ED-C3C0-35D2-0350A595A59D}"/>
              </a:ext>
            </a:extLst>
          </p:cNvPr>
          <p:cNvSpPr/>
          <p:nvPr/>
        </p:nvSpPr>
        <p:spPr>
          <a:xfrm>
            <a:off x="5906156" y="1432158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C232BF7A-0131-AB3D-28CF-29BF18F12D08}"/>
              </a:ext>
            </a:extLst>
          </p:cNvPr>
          <p:cNvSpPr/>
          <p:nvPr/>
        </p:nvSpPr>
        <p:spPr>
          <a:xfrm>
            <a:off x="10278169" y="620616"/>
            <a:ext cx="140043" cy="121255"/>
          </a:xfrm>
          <a:prstGeom prst="ellipse">
            <a:avLst/>
          </a:prstGeom>
          <a:solidFill>
            <a:srgbClr val="0070C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EA7386E1-DDB6-4F6D-FB38-8975D0458B85}"/>
              </a:ext>
            </a:extLst>
          </p:cNvPr>
          <p:cNvSpPr txBox="1"/>
          <p:nvPr/>
        </p:nvSpPr>
        <p:spPr>
          <a:xfrm>
            <a:off x="10415782" y="550809"/>
            <a:ext cx="808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constraint</a:t>
            </a:r>
          </a:p>
        </p:txBody>
      </p:sp>
      <p:sp>
        <p:nvSpPr>
          <p:cNvPr id="115" name="Ellipse 114">
            <a:extLst>
              <a:ext uri="{FF2B5EF4-FFF2-40B4-BE49-F238E27FC236}">
                <a16:creationId xmlns:a16="http://schemas.microsoft.com/office/drawing/2014/main" id="{DF26D593-B17D-471D-DD8B-AD9FA456A993}"/>
              </a:ext>
            </a:extLst>
          </p:cNvPr>
          <p:cNvSpPr/>
          <p:nvPr/>
        </p:nvSpPr>
        <p:spPr>
          <a:xfrm>
            <a:off x="219140" y="5135192"/>
            <a:ext cx="140043" cy="121255"/>
          </a:xfrm>
          <a:prstGeom prst="ellipse">
            <a:avLst/>
          </a:prstGeom>
          <a:solidFill>
            <a:srgbClr val="0070C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Ellipse 115">
            <a:extLst>
              <a:ext uri="{FF2B5EF4-FFF2-40B4-BE49-F238E27FC236}">
                <a16:creationId xmlns:a16="http://schemas.microsoft.com/office/drawing/2014/main" id="{76D52DB8-FFE4-D358-380E-312817F6BFC2}"/>
              </a:ext>
            </a:extLst>
          </p:cNvPr>
          <p:cNvSpPr/>
          <p:nvPr/>
        </p:nvSpPr>
        <p:spPr>
          <a:xfrm>
            <a:off x="10278169" y="817246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3A67B135-A1FC-C511-7DD0-9083629C9B10}"/>
              </a:ext>
            </a:extLst>
          </p:cNvPr>
          <p:cNvSpPr txBox="1"/>
          <p:nvPr/>
        </p:nvSpPr>
        <p:spPr>
          <a:xfrm>
            <a:off x="10397719" y="750305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100"/>
              <a:t>Functional req</a:t>
            </a:r>
          </a:p>
        </p:txBody>
      </p:sp>
      <p:sp>
        <p:nvSpPr>
          <p:cNvPr id="118" name="Ellipse 117">
            <a:extLst>
              <a:ext uri="{FF2B5EF4-FFF2-40B4-BE49-F238E27FC236}">
                <a16:creationId xmlns:a16="http://schemas.microsoft.com/office/drawing/2014/main" id="{2CDEC81C-AF45-DC41-303B-C96758FD47A1}"/>
              </a:ext>
            </a:extLst>
          </p:cNvPr>
          <p:cNvSpPr/>
          <p:nvPr/>
        </p:nvSpPr>
        <p:spPr>
          <a:xfrm>
            <a:off x="6118186" y="3768091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Ellipse 118">
            <a:extLst>
              <a:ext uri="{FF2B5EF4-FFF2-40B4-BE49-F238E27FC236}">
                <a16:creationId xmlns:a16="http://schemas.microsoft.com/office/drawing/2014/main" id="{89E62467-CA41-683E-B9F0-622467B8978F}"/>
              </a:ext>
            </a:extLst>
          </p:cNvPr>
          <p:cNvSpPr/>
          <p:nvPr/>
        </p:nvSpPr>
        <p:spPr>
          <a:xfrm>
            <a:off x="5619305" y="2834132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Ellipse 119">
            <a:extLst>
              <a:ext uri="{FF2B5EF4-FFF2-40B4-BE49-F238E27FC236}">
                <a16:creationId xmlns:a16="http://schemas.microsoft.com/office/drawing/2014/main" id="{57CB798F-E12F-CD38-2459-C49E502B5605}"/>
              </a:ext>
            </a:extLst>
          </p:cNvPr>
          <p:cNvSpPr/>
          <p:nvPr/>
        </p:nvSpPr>
        <p:spPr>
          <a:xfrm>
            <a:off x="8225557" y="4098730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FFD68EED-0891-586A-54E9-28B2ECDC0B50}"/>
              </a:ext>
            </a:extLst>
          </p:cNvPr>
          <p:cNvSpPr/>
          <p:nvPr/>
        </p:nvSpPr>
        <p:spPr>
          <a:xfrm>
            <a:off x="8212342" y="3920847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41554C09-6089-7D2E-16EA-9CA3E208949A}"/>
              </a:ext>
            </a:extLst>
          </p:cNvPr>
          <p:cNvSpPr/>
          <p:nvPr/>
        </p:nvSpPr>
        <p:spPr>
          <a:xfrm>
            <a:off x="9640745" y="2948819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8DB53DA6-1EAD-C584-59CE-803F064D373B}"/>
              </a:ext>
            </a:extLst>
          </p:cNvPr>
          <p:cNvSpPr/>
          <p:nvPr/>
        </p:nvSpPr>
        <p:spPr>
          <a:xfrm>
            <a:off x="7625532" y="3120585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8965A5B9-997E-37EE-6869-D96ADB935C08}"/>
              </a:ext>
            </a:extLst>
          </p:cNvPr>
          <p:cNvSpPr/>
          <p:nvPr/>
        </p:nvSpPr>
        <p:spPr>
          <a:xfrm>
            <a:off x="3879055" y="3377813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11F02498-39E2-271C-29BB-E5D4E405F68A}"/>
              </a:ext>
            </a:extLst>
          </p:cNvPr>
          <p:cNvSpPr/>
          <p:nvPr/>
        </p:nvSpPr>
        <p:spPr>
          <a:xfrm>
            <a:off x="3917207" y="4359507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C8CDAE7D-3160-6E99-F243-4FF087D852DE}"/>
              </a:ext>
            </a:extLst>
          </p:cNvPr>
          <p:cNvSpPr/>
          <p:nvPr/>
        </p:nvSpPr>
        <p:spPr>
          <a:xfrm>
            <a:off x="3337226" y="5598579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BB0A625-E3D4-15E8-7E91-A4F7E64C2533}"/>
              </a:ext>
            </a:extLst>
          </p:cNvPr>
          <p:cNvSpPr/>
          <p:nvPr/>
        </p:nvSpPr>
        <p:spPr>
          <a:xfrm>
            <a:off x="3325288" y="5847110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49D55567-A5A6-813E-FD30-FE675409ABB7}"/>
              </a:ext>
            </a:extLst>
          </p:cNvPr>
          <p:cNvSpPr/>
          <p:nvPr/>
        </p:nvSpPr>
        <p:spPr>
          <a:xfrm>
            <a:off x="3490460" y="626566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9" name="Ellipse 128">
            <a:extLst>
              <a:ext uri="{FF2B5EF4-FFF2-40B4-BE49-F238E27FC236}">
                <a16:creationId xmlns:a16="http://schemas.microsoft.com/office/drawing/2014/main" id="{59C7FB00-6680-8F4D-6421-ECA55507DAC0}"/>
              </a:ext>
            </a:extLst>
          </p:cNvPr>
          <p:cNvSpPr/>
          <p:nvPr/>
        </p:nvSpPr>
        <p:spPr>
          <a:xfrm>
            <a:off x="3530330" y="38951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44F2FFAA-E3E5-C52D-032F-0A71EA2F3DA1}"/>
              </a:ext>
            </a:extLst>
          </p:cNvPr>
          <p:cNvSpPr/>
          <p:nvPr/>
        </p:nvSpPr>
        <p:spPr>
          <a:xfrm>
            <a:off x="3530330" y="229329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1" name="Ellipse 130">
            <a:extLst>
              <a:ext uri="{FF2B5EF4-FFF2-40B4-BE49-F238E27FC236}">
                <a16:creationId xmlns:a16="http://schemas.microsoft.com/office/drawing/2014/main" id="{CC45E269-947F-0EA5-E996-E6123D2CFC6B}"/>
              </a:ext>
            </a:extLst>
          </p:cNvPr>
          <p:cNvSpPr/>
          <p:nvPr/>
        </p:nvSpPr>
        <p:spPr>
          <a:xfrm>
            <a:off x="3530330" y="446702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2" name="Ellipse 131">
            <a:extLst>
              <a:ext uri="{FF2B5EF4-FFF2-40B4-BE49-F238E27FC236}">
                <a16:creationId xmlns:a16="http://schemas.microsoft.com/office/drawing/2014/main" id="{90E696DD-760B-0AAB-7D0D-76FC572D21B9}"/>
              </a:ext>
            </a:extLst>
          </p:cNvPr>
          <p:cNvSpPr/>
          <p:nvPr/>
        </p:nvSpPr>
        <p:spPr>
          <a:xfrm>
            <a:off x="3862838" y="1418720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3" name="Ellipse 132">
            <a:extLst>
              <a:ext uri="{FF2B5EF4-FFF2-40B4-BE49-F238E27FC236}">
                <a16:creationId xmlns:a16="http://schemas.microsoft.com/office/drawing/2014/main" id="{E517595F-3A5A-51A3-5B60-C8962392413E}"/>
              </a:ext>
            </a:extLst>
          </p:cNvPr>
          <p:cNvSpPr/>
          <p:nvPr/>
        </p:nvSpPr>
        <p:spPr>
          <a:xfrm>
            <a:off x="3862838" y="1705179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4" name="Ellipse 133">
            <a:extLst>
              <a:ext uri="{FF2B5EF4-FFF2-40B4-BE49-F238E27FC236}">
                <a16:creationId xmlns:a16="http://schemas.microsoft.com/office/drawing/2014/main" id="{CAFBFB5B-A1B5-3A24-CACC-C96B738849D0}"/>
              </a:ext>
            </a:extLst>
          </p:cNvPr>
          <p:cNvSpPr/>
          <p:nvPr/>
        </p:nvSpPr>
        <p:spPr>
          <a:xfrm>
            <a:off x="3772535" y="2191406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5" name="Ellipse 134">
            <a:extLst>
              <a:ext uri="{FF2B5EF4-FFF2-40B4-BE49-F238E27FC236}">
                <a16:creationId xmlns:a16="http://schemas.microsoft.com/office/drawing/2014/main" id="{6379D76C-F615-FCEE-D6F1-0C25E2980EA9}"/>
              </a:ext>
            </a:extLst>
          </p:cNvPr>
          <p:cNvSpPr/>
          <p:nvPr/>
        </p:nvSpPr>
        <p:spPr>
          <a:xfrm>
            <a:off x="3798466" y="2446551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6" name="Ellipse 135">
            <a:extLst>
              <a:ext uri="{FF2B5EF4-FFF2-40B4-BE49-F238E27FC236}">
                <a16:creationId xmlns:a16="http://schemas.microsoft.com/office/drawing/2014/main" id="{BE787E3A-CAEC-A06B-8FCE-2F39A49378B3}"/>
              </a:ext>
            </a:extLst>
          </p:cNvPr>
          <p:cNvSpPr/>
          <p:nvPr/>
        </p:nvSpPr>
        <p:spPr>
          <a:xfrm>
            <a:off x="5603959" y="2210704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7" name="Ellipse 136">
            <a:extLst>
              <a:ext uri="{FF2B5EF4-FFF2-40B4-BE49-F238E27FC236}">
                <a16:creationId xmlns:a16="http://schemas.microsoft.com/office/drawing/2014/main" id="{C0C6A4F0-E539-C098-79F5-01741B4D3BB8}"/>
              </a:ext>
            </a:extLst>
          </p:cNvPr>
          <p:cNvSpPr/>
          <p:nvPr/>
        </p:nvSpPr>
        <p:spPr>
          <a:xfrm>
            <a:off x="7611025" y="2837876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9" name="Ellipse 138">
            <a:extLst>
              <a:ext uri="{FF2B5EF4-FFF2-40B4-BE49-F238E27FC236}">
                <a16:creationId xmlns:a16="http://schemas.microsoft.com/office/drawing/2014/main" id="{E88D7DA5-0E3F-A040-37F9-C0CCB7C72CCA}"/>
              </a:ext>
            </a:extLst>
          </p:cNvPr>
          <p:cNvSpPr/>
          <p:nvPr/>
        </p:nvSpPr>
        <p:spPr>
          <a:xfrm>
            <a:off x="1968510" y="1113514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0" name="Ellipse 139">
            <a:extLst>
              <a:ext uri="{FF2B5EF4-FFF2-40B4-BE49-F238E27FC236}">
                <a16:creationId xmlns:a16="http://schemas.microsoft.com/office/drawing/2014/main" id="{3B514223-504D-1474-5C64-8BEEDC0B6BA1}"/>
              </a:ext>
            </a:extLst>
          </p:cNvPr>
          <p:cNvSpPr/>
          <p:nvPr/>
        </p:nvSpPr>
        <p:spPr>
          <a:xfrm>
            <a:off x="6130161" y="4026091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1" name="Ellipse 140">
            <a:extLst>
              <a:ext uri="{FF2B5EF4-FFF2-40B4-BE49-F238E27FC236}">
                <a16:creationId xmlns:a16="http://schemas.microsoft.com/office/drawing/2014/main" id="{DABBA136-66DF-94C7-02EF-49DE4FB477AD}"/>
              </a:ext>
            </a:extLst>
          </p:cNvPr>
          <p:cNvSpPr/>
          <p:nvPr/>
        </p:nvSpPr>
        <p:spPr>
          <a:xfrm>
            <a:off x="6618778" y="5856755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2" name="Ellipse 141">
            <a:extLst>
              <a:ext uri="{FF2B5EF4-FFF2-40B4-BE49-F238E27FC236}">
                <a16:creationId xmlns:a16="http://schemas.microsoft.com/office/drawing/2014/main" id="{13AAD037-FE58-9FA8-34A5-AA3E374ED308}"/>
              </a:ext>
            </a:extLst>
          </p:cNvPr>
          <p:cNvSpPr/>
          <p:nvPr/>
        </p:nvSpPr>
        <p:spPr>
          <a:xfrm>
            <a:off x="6664375" y="6132493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3592C52C-75F0-1AAA-017E-B122FF842645}"/>
              </a:ext>
            </a:extLst>
          </p:cNvPr>
          <p:cNvSpPr/>
          <p:nvPr/>
        </p:nvSpPr>
        <p:spPr>
          <a:xfrm>
            <a:off x="4947076" y="6192351"/>
            <a:ext cx="140043" cy="121255"/>
          </a:xfrm>
          <a:prstGeom prst="ellipse">
            <a:avLst/>
          </a:prstGeom>
          <a:solidFill>
            <a:srgbClr val="FF0000"/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: abgerundete Ecken 71">
            <a:extLst>
              <a:ext uri="{FF2B5EF4-FFF2-40B4-BE49-F238E27FC236}">
                <a16:creationId xmlns:a16="http://schemas.microsoft.com/office/drawing/2014/main" id="{BFF3924A-6081-D6D8-F476-FB8B03BBF73C}"/>
              </a:ext>
            </a:extLst>
          </p:cNvPr>
          <p:cNvSpPr/>
          <p:nvPr/>
        </p:nvSpPr>
        <p:spPr>
          <a:xfrm>
            <a:off x="101497" y="1182264"/>
            <a:ext cx="1609656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2: Job Manager Transactions</a:t>
            </a:r>
          </a:p>
        </p:txBody>
      </p:sp>
      <p:sp>
        <p:nvSpPr>
          <p:cNvPr id="75" name="Rechteck: abgerundete Ecken 74">
            <a:extLst>
              <a:ext uri="{FF2B5EF4-FFF2-40B4-BE49-F238E27FC236}">
                <a16:creationId xmlns:a16="http://schemas.microsoft.com/office/drawing/2014/main" id="{828B266A-F23D-8377-B2F8-8A283D37F870}"/>
              </a:ext>
            </a:extLst>
          </p:cNvPr>
          <p:cNvSpPr/>
          <p:nvPr/>
        </p:nvSpPr>
        <p:spPr>
          <a:xfrm>
            <a:off x="5531901" y="729524"/>
            <a:ext cx="844184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3: Logging</a:t>
            </a:r>
          </a:p>
        </p:txBody>
      </p:sp>
      <p:sp>
        <p:nvSpPr>
          <p:cNvPr id="76" name="Rechteck: abgerundete Ecken 75">
            <a:extLst>
              <a:ext uri="{FF2B5EF4-FFF2-40B4-BE49-F238E27FC236}">
                <a16:creationId xmlns:a16="http://schemas.microsoft.com/office/drawing/2014/main" id="{41988555-5AA4-6C01-9DBD-5C0064F931EE}"/>
              </a:ext>
            </a:extLst>
          </p:cNvPr>
          <p:cNvSpPr/>
          <p:nvPr/>
        </p:nvSpPr>
        <p:spPr>
          <a:xfrm>
            <a:off x="2376597" y="2420719"/>
            <a:ext cx="958484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4: Schedulers</a:t>
            </a:r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F6E46D4A-6317-A132-00D7-507212A87C10}"/>
              </a:ext>
            </a:extLst>
          </p:cNvPr>
          <p:cNvSpPr/>
          <p:nvPr/>
        </p:nvSpPr>
        <p:spPr>
          <a:xfrm>
            <a:off x="101496" y="1399086"/>
            <a:ext cx="1609656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5: Job Duplicate Entry check</a:t>
            </a:r>
          </a:p>
        </p:txBody>
      </p:sp>
      <p:sp>
        <p:nvSpPr>
          <p:cNvPr id="78" name="Rechteck: abgerundete Ecken 77">
            <a:extLst>
              <a:ext uri="{FF2B5EF4-FFF2-40B4-BE49-F238E27FC236}">
                <a16:creationId xmlns:a16="http://schemas.microsoft.com/office/drawing/2014/main" id="{FAFC4FF0-DBBC-5602-6C17-901AA4E4C3F1}"/>
              </a:ext>
            </a:extLst>
          </p:cNvPr>
          <p:cNvSpPr/>
          <p:nvPr/>
        </p:nvSpPr>
        <p:spPr>
          <a:xfrm>
            <a:off x="101496" y="1606065"/>
            <a:ext cx="1609656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6: Job Manager</a:t>
            </a:r>
          </a:p>
        </p:txBody>
      </p: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33EBE547-D7C8-86E1-4CA3-0970F8C78A03}"/>
              </a:ext>
            </a:extLst>
          </p:cNvPr>
          <p:cNvSpPr/>
          <p:nvPr/>
        </p:nvSpPr>
        <p:spPr>
          <a:xfrm>
            <a:off x="101497" y="1812870"/>
            <a:ext cx="1609656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7: Parsing FileUpload Content</a:t>
            </a:r>
          </a:p>
        </p:txBody>
      </p: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DCBEBE03-7E92-3259-DE66-E67C92E55AB2}"/>
              </a:ext>
            </a:extLst>
          </p:cNvPr>
          <p:cNvSpPr/>
          <p:nvPr/>
        </p:nvSpPr>
        <p:spPr>
          <a:xfrm>
            <a:off x="101497" y="2023099"/>
            <a:ext cx="1609656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8: Process PostReq from UI</a:t>
            </a:r>
          </a:p>
        </p:txBody>
      </p:sp>
      <p:sp>
        <p:nvSpPr>
          <p:cNvPr id="81" name="Rechteck: abgerundete Ecken 80">
            <a:extLst>
              <a:ext uri="{FF2B5EF4-FFF2-40B4-BE49-F238E27FC236}">
                <a16:creationId xmlns:a16="http://schemas.microsoft.com/office/drawing/2014/main" id="{D44E31B0-7D42-4DC6-3311-56A2BDDECDC1}"/>
              </a:ext>
            </a:extLst>
          </p:cNvPr>
          <p:cNvSpPr/>
          <p:nvPr/>
        </p:nvSpPr>
        <p:spPr>
          <a:xfrm>
            <a:off x="5536216" y="-16859"/>
            <a:ext cx="1609656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9: FileManager Interface</a:t>
            </a: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F9F30B3C-BE7C-01BE-8B4D-BF80804BDB5F}"/>
              </a:ext>
            </a:extLst>
          </p:cNvPr>
          <p:cNvSpPr/>
          <p:nvPr/>
        </p:nvSpPr>
        <p:spPr>
          <a:xfrm>
            <a:off x="5532303" y="194621"/>
            <a:ext cx="1609656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900">
                <a:solidFill>
                  <a:schemeClr val="tx1"/>
                </a:solidFill>
              </a:rPr>
              <a:t>10: Software Repository</a:t>
            </a:r>
          </a:p>
        </p:txBody>
      </p:sp>
      <p:sp>
        <p:nvSpPr>
          <p:cNvPr id="85" name="Rechteck: abgerundete Ecken 84">
            <a:extLst>
              <a:ext uri="{FF2B5EF4-FFF2-40B4-BE49-F238E27FC236}">
                <a16:creationId xmlns:a16="http://schemas.microsoft.com/office/drawing/2014/main" id="{70821B79-FD5B-87D7-A285-3ECF3EC2534C}"/>
              </a:ext>
            </a:extLst>
          </p:cNvPr>
          <p:cNvSpPr/>
          <p:nvPr/>
        </p:nvSpPr>
        <p:spPr>
          <a:xfrm>
            <a:off x="5528422" y="402311"/>
            <a:ext cx="1882067" cy="18944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800">
                <a:solidFill>
                  <a:schemeClr val="tx1"/>
                </a:solidFill>
              </a:rPr>
              <a:t>11: Software Repository Maintenance</a:t>
            </a:r>
          </a:p>
        </p:txBody>
      </p: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42ADF95F-955C-8B12-1F5E-8977A7962022}"/>
              </a:ext>
            </a:extLst>
          </p:cNvPr>
          <p:cNvCxnSpPr>
            <a:stCxn id="22" idx="3"/>
            <a:endCxn id="81" idx="1"/>
          </p:cNvCxnSpPr>
          <p:nvPr/>
        </p:nvCxnSpPr>
        <p:spPr>
          <a:xfrm flipV="1">
            <a:off x="5210845" y="77864"/>
            <a:ext cx="325371" cy="21597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895A3797-B2D3-7F17-C4E5-F392BDD9106D}"/>
              </a:ext>
            </a:extLst>
          </p:cNvPr>
          <p:cNvCxnSpPr>
            <a:cxnSpLocks/>
            <a:stCxn id="22" idx="3"/>
            <a:endCxn id="82" idx="1"/>
          </p:cNvCxnSpPr>
          <p:nvPr/>
        </p:nvCxnSpPr>
        <p:spPr>
          <a:xfrm flipV="1">
            <a:off x="5210845" y="289344"/>
            <a:ext cx="321458" cy="449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B33BD3E9-F7BB-26AF-BBF6-30032A8B324A}"/>
              </a:ext>
            </a:extLst>
          </p:cNvPr>
          <p:cNvCxnSpPr>
            <a:cxnSpLocks/>
            <a:stCxn id="22" idx="3"/>
            <a:endCxn id="85" idx="1"/>
          </p:cNvCxnSpPr>
          <p:nvPr/>
        </p:nvCxnSpPr>
        <p:spPr>
          <a:xfrm>
            <a:off x="5210845" y="293842"/>
            <a:ext cx="317577" cy="203192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673D4D0F-C3AC-811F-6D30-D301969E1989}"/>
              </a:ext>
            </a:extLst>
          </p:cNvPr>
          <p:cNvCxnSpPr>
            <a:cxnSpLocks/>
            <a:stCxn id="80" idx="3"/>
            <a:endCxn id="10" idx="1"/>
          </p:cNvCxnSpPr>
          <p:nvPr/>
        </p:nvCxnSpPr>
        <p:spPr>
          <a:xfrm flipV="1">
            <a:off x="1711153" y="1730203"/>
            <a:ext cx="349564" cy="387619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AFFB7E81-E171-36A1-5977-39E972AB22BC}"/>
              </a:ext>
            </a:extLst>
          </p:cNvPr>
          <p:cNvCxnSpPr>
            <a:cxnSpLocks/>
            <a:stCxn id="79" idx="3"/>
            <a:endCxn id="10" idx="1"/>
          </p:cNvCxnSpPr>
          <p:nvPr/>
        </p:nvCxnSpPr>
        <p:spPr>
          <a:xfrm flipV="1">
            <a:off x="1711153" y="1730203"/>
            <a:ext cx="349564" cy="17739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Gerader Verbinder 143">
            <a:extLst>
              <a:ext uri="{FF2B5EF4-FFF2-40B4-BE49-F238E27FC236}">
                <a16:creationId xmlns:a16="http://schemas.microsoft.com/office/drawing/2014/main" id="{DE10E4D3-CC8A-71F1-519C-97174184D7B4}"/>
              </a:ext>
            </a:extLst>
          </p:cNvPr>
          <p:cNvCxnSpPr>
            <a:cxnSpLocks/>
            <a:stCxn id="78" idx="3"/>
            <a:endCxn id="10" idx="1"/>
          </p:cNvCxnSpPr>
          <p:nvPr/>
        </p:nvCxnSpPr>
        <p:spPr>
          <a:xfrm>
            <a:off x="1711152" y="1700788"/>
            <a:ext cx="349565" cy="2941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F63BA298-1E14-F1AF-FD97-15950448E78A}"/>
              </a:ext>
            </a:extLst>
          </p:cNvPr>
          <p:cNvCxnSpPr>
            <a:cxnSpLocks/>
            <a:stCxn id="77" idx="3"/>
            <a:endCxn id="10" idx="1"/>
          </p:cNvCxnSpPr>
          <p:nvPr/>
        </p:nvCxnSpPr>
        <p:spPr>
          <a:xfrm>
            <a:off x="1711152" y="1493809"/>
            <a:ext cx="349565" cy="236394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B35F9584-2472-5AED-176C-704077A1A476}"/>
              </a:ext>
            </a:extLst>
          </p:cNvPr>
          <p:cNvCxnSpPr>
            <a:cxnSpLocks/>
            <a:stCxn id="22" idx="3"/>
            <a:endCxn id="75" idx="1"/>
          </p:cNvCxnSpPr>
          <p:nvPr/>
        </p:nvCxnSpPr>
        <p:spPr>
          <a:xfrm>
            <a:off x="5210845" y="293842"/>
            <a:ext cx="321056" cy="530405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Gerader Verbinder 162">
            <a:extLst>
              <a:ext uri="{FF2B5EF4-FFF2-40B4-BE49-F238E27FC236}">
                <a16:creationId xmlns:a16="http://schemas.microsoft.com/office/drawing/2014/main" id="{C0DB7E64-38ED-2625-2EF5-46EBD1AAB3AB}"/>
              </a:ext>
            </a:extLst>
          </p:cNvPr>
          <p:cNvCxnSpPr>
            <a:cxnSpLocks/>
            <a:stCxn id="30" idx="3"/>
            <a:endCxn id="75" idx="1"/>
          </p:cNvCxnSpPr>
          <p:nvPr/>
        </p:nvCxnSpPr>
        <p:spPr>
          <a:xfrm>
            <a:off x="5210845" y="717129"/>
            <a:ext cx="321056" cy="107118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Gerader Verbinder 165">
            <a:extLst>
              <a:ext uri="{FF2B5EF4-FFF2-40B4-BE49-F238E27FC236}">
                <a16:creationId xmlns:a16="http://schemas.microsoft.com/office/drawing/2014/main" id="{118FBF93-59A1-7A46-B2BA-BF3D415BB409}"/>
              </a:ext>
            </a:extLst>
          </p:cNvPr>
          <p:cNvCxnSpPr>
            <a:cxnSpLocks/>
            <a:stCxn id="10" idx="1"/>
            <a:endCxn id="72" idx="3"/>
          </p:cNvCxnSpPr>
          <p:nvPr/>
        </p:nvCxnSpPr>
        <p:spPr>
          <a:xfrm flipH="1" flipV="1">
            <a:off x="1711153" y="1276987"/>
            <a:ext cx="349564" cy="453216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Ellipse 137">
            <a:extLst>
              <a:ext uri="{FF2B5EF4-FFF2-40B4-BE49-F238E27FC236}">
                <a16:creationId xmlns:a16="http://schemas.microsoft.com/office/drawing/2014/main" id="{C9E4F336-D337-592B-B28E-ACC47E8D0530}"/>
              </a:ext>
            </a:extLst>
          </p:cNvPr>
          <p:cNvSpPr/>
          <p:nvPr/>
        </p:nvSpPr>
        <p:spPr>
          <a:xfrm>
            <a:off x="1980297" y="1679936"/>
            <a:ext cx="140043" cy="12125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1142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ced55a7-e3ff-412d-8b16-16c16d29a51e}" enabled="1" method="Privileged" siteId="{9744600e-3e04-492e-baa1-25ec245c6f1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Microsoft Office PowerPoint</Application>
  <PresentationFormat>Breitbild</PresentationFormat>
  <Paragraphs>100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>Telefónica Germany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Katharina Mohr (External)</dc:creator>
  <cp:lastModifiedBy>Katharina Mohr (External)</cp:lastModifiedBy>
  <cp:revision>34</cp:revision>
  <dcterms:created xsi:type="dcterms:W3CDTF">2026-04-02T10:23:14Z</dcterms:created>
  <dcterms:modified xsi:type="dcterms:W3CDTF">2026-04-02T12:37:20Z</dcterms:modified>
</cp:coreProperties>
</file>